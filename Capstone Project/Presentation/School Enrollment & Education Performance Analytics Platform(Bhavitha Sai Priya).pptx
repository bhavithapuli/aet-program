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panose="020B0604020202020204" charset="0"/>
      <p:regular r:id="rId14"/>
    </p:embeddedFont>
    <p:embeddedFont>
      <p:font typeface="TAN Mon Cheri" panose="020B0604020202020204" charset="0"/>
      <p:regular r:id="rId15"/>
    </p:embeddedFont>
    <p:embeddedFont>
      <p:font typeface="TT Commons Pro" panose="020B0604020202020204" charset="0"/>
      <p:regular r:id="rId16"/>
    </p:embeddedFont>
    <p:embeddedFont>
      <p:font typeface="TT Commons Pro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24" y="6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tha pofru" userId="a06581d3febf86fb" providerId="LiveId" clId="{3B2F6794-2969-4C6B-AC92-43D69AD6129D}"/>
    <pc:docChg chg="custSel modSld">
      <pc:chgData name="bhavitha pofru" userId="a06581d3febf86fb" providerId="LiveId" clId="{3B2F6794-2969-4C6B-AC92-43D69AD6129D}" dt="2026-01-05T01:29:52.016" v="42" actId="14100"/>
      <pc:docMkLst>
        <pc:docMk/>
      </pc:docMkLst>
      <pc:sldChg chg="delSp mod">
        <pc:chgData name="bhavitha pofru" userId="a06581d3febf86fb" providerId="LiveId" clId="{3B2F6794-2969-4C6B-AC92-43D69AD6129D}" dt="2026-01-05T01:26:18.247" v="0" actId="478"/>
        <pc:sldMkLst>
          <pc:docMk/>
          <pc:sldMk cId="0" sldId="256"/>
        </pc:sldMkLst>
        <pc:spChg chg="del">
          <ac:chgData name="bhavitha pofru" userId="a06581d3febf86fb" providerId="LiveId" clId="{3B2F6794-2969-4C6B-AC92-43D69AD6129D}" dt="2026-01-05T01:26:18.247" v="0" actId="478"/>
          <ac:spMkLst>
            <pc:docMk/>
            <pc:sldMk cId="0" sldId="256"/>
            <ac:spMk id="2" creationId="{00000000-0000-0000-0000-000000000000}"/>
          </ac:spMkLst>
        </pc:spChg>
      </pc:sldChg>
      <pc:sldChg chg="modSp mod">
        <pc:chgData name="bhavitha pofru" userId="a06581d3febf86fb" providerId="LiveId" clId="{3B2F6794-2969-4C6B-AC92-43D69AD6129D}" dt="2026-01-05T01:26:32.577" v="3" actId="1076"/>
        <pc:sldMkLst>
          <pc:docMk/>
          <pc:sldMk cId="0" sldId="258"/>
        </pc:sldMkLst>
        <pc:spChg chg="mod">
          <ac:chgData name="bhavitha pofru" userId="a06581d3febf86fb" providerId="LiveId" clId="{3B2F6794-2969-4C6B-AC92-43D69AD6129D}" dt="2026-01-05T01:26:32.577" v="3" actId="1076"/>
          <ac:spMkLst>
            <pc:docMk/>
            <pc:sldMk cId="0" sldId="258"/>
            <ac:spMk id="3" creationId="{00000000-0000-0000-0000-000000000000}"/>
          </ac:spMkLst>
        </pc:spChg>
      </pc:sldChg>
      <pc:sldChg chg="modSp mod">
        <pc:chgData name="bhavitha pofru" userId="a06581d3febf86fb" providerId="LiveId" clId="{3B2F6794-2969-4C6B-AC92-43D69AD6129D}" dt="2026-01-05T01:26:37.090" v="4" actId="1076"/>
        <pc:sldMkLst>
          <pc:docMk/>
          <pc:sldMk cId="0" sldId="259"/>
        </pc:sldMkLst>
        <pc:spChg chg="mod">
          <ac:chgData name="bhavitha pofru" userId="a06581d3febf86fb" providerId="LiveId" clId="{3B2F6794-2969-4C6B-AC92-43D69AD6129D}" dt="2026-01-05T01:26:37.090" v="4" actId="1076"/>
          <ac:spMkLst>
            <pc:docMk/>
            <pc:sldMk cId="0" sldId="259"/>
            <ac:spMk id="3" creationId="{00000000-0000-0000-0000-000000000000}"/>
          </ac:spMkLst>
        </pc:spChg>
      </pc:sldChg>
      <pc:sldChg chg="modSp mod">
        <pc:chgData name="bhavitha pofru" userId="a06581d3febf86fb" providerId="LiveId" clId="{3B2F6794-2969-4C6B-AC92-43D69AD6129D}" dt="2026-01-05T01:26:49.911" v="7" actId="14100"/>
        <pc:sldMkLst>
          <pc:docMk/>
          <pc:sldMk cId="0" sldId="261"/>
        </pc:sldMkLst>
        <pc:spChg chg="mod">
          <ac:chgData name="bhavitha pofru" userId="a06581d3febf86fb" providerId="LiveId" clId="{3B2F6794-2969-4C6B-AC92-43D69AD6129D}" dt="2026-01-05T01:26:49.911" v="7" actId="14100"/>
          <ac:spMkLst>
            <pc:docMk/>
            <pc:sldMk cId="0" sldId="261"/>
            <ac:spMk id="3" creationId="{00000000-0000-0000-0000-000000000000}"/>
          </ac:spMkLst>
        </pc:spChg>
        <pc:spChg chg="mod">
          <ac:chgData name="bhavitha pofru" userId="a06581d3febf86fb" providerId="LiveId" clId="{3B2F6794-2969-4C6B-AC92-43D69AD6129D}" dt="2026-01-05T01:26:43.628" v="5" actId="1076"/>
          <ac:spMkLst>
            <pc:docMk/>
            <pc:sldMk cId="0" sldId="261"/>
            <ac:spMk id="4" creationId="{00000000-0000-0000-0000-000000000000}"/>
          </ac:spMkLst>
        </pc:spChg>
      </pc:sldChg>
      <pc:sldChg chg="modSp mod">
        <pc:chgData name="bhavitha pofru" userId="a06581d3febf86fb" providerId="LiveId" clId="{3B2F6794-2969-4C6B-AC92-43D69AD6129D}" dt="2026-01-05T01:27:14.109" v="12" actId="14100"/>
        <pc:sldMkLst>
          <pc:docMk/>
          <pc:sldMk cId="0" sldId="262"/>
        </pc:sldMkLst>
        <pc:spChg chg="mod">
          <ac:chgData name="bhavitha pofru" userId="a06581d3febf86fb" providerId="LiveId" clId="{3B2F6794-2969-4C6B-AC92-43D69AD6129D}" dt="2026-01-05T01:27:14.109" v="12" actId="14100"/>
          <ac:spMkLst>
            <pc:docMk/>
            <pc:sldMk cId="0" sldId="262"/>
            <ac:spMk id="3" creationId="{00000000-0000-0000-0000-000000000000}"/>
          </ac:spMkLst>
        </pc:spChg>
      </pc:sldChg>
      <pc:sldChg chg="delSp modSp mod">
        <pc:chgData name="bhavitha pofru" userId="a06581d3febf86fb" providerId="LiveId" clId="{3B2F6794-2969-4C6B-AC92-43D69AD6129D}" dt="2026-01-05T01:28:11.005" v="29" actId="14100"/>
        <pc:sldMkLst>
          <pc:docMk/>
          <pc:sldMk cId="0" sldId="263"/>
        </pc:sldMkLst>
        <pc:spChg chg="mod">
          <ac:chgData name="bhavitha pofru" userId="a06581d3febf86fb" providerId="LiveId" clId="{3B2F6794-2969-4C6B-AC92-43D69AD6129D}" dt="2026-01-05T01:28:11.005" v="29" actId="14100"/>
          <ac:spMkLst>
            <pc:docMk/>
            <pc:sldMk cId="0" sldId="263"/>
            <ac:spMk id="3" creationId="{00000000-0000-0000-0000-000000000000}"/>
          </ac:spMkLst>
        </pc:spChg>
        <pc:spChg chg="del mod">
          <ac:chgData name="bhavitha pofru" userId="a06581d3febf86fb" providerId="LiveId" clId="{3B2F6794-2969-4C6B-AC92-43D69AD6129D}" dt="2026-01-05T01:27:47.781" v="23" actId="478"/>
          <ac:spMkLst>
            <pc:docMk/>
            <pc:sldMk cId="0" sldId="263"/>
            <ac:spMk id="4" creationId="{00000000-0000-0000-0000-000000000000}"/>
          </ac:spMkLst>
        </pc:spChg>
      </pc:sldChg>
      <pc:sldChg chg="modSp mod">
        <pc:chgData name="bhavitha pofru" userId="a06581d3febf86fb" providerId="LiveId" clId="{3B2F6794-2969-4C6B-AC92-43D69AD6129D}" dt="2026-01-05T01:29:52.016" v="42" actId="14100"/>
        <pc:sldMkLst>
          <pc:docMk/>
          <pc:sldMk cId="0" sldId="266"/>
        </pc:sldMkLst>
        <pc:spChg chg="mod">
          <ac:chgData name="bhavitha pofru" userId="a06581d3febf86fb" providerId="LiveId" clId="{3B2F6794-2969-4C6B-AC92-43D69AD6129D}" dt="2026-01-05T01:29:42.110" v="41" actId="14100"/>
          <ac:spMkLst>
            <pc:docMk/>
            <pc:sldMk cId="0" sldId="266"/>
            <ac:spMk id="3" creationId="{00000000-0000-0000-0000-000000000000}"/>
          </ac:spMkLst>
        </pc:spChg>
        <pc:spChg chg="mod">
          <ac:chgData name="bhavitha pofru" userId="a06581d3febf86fb" providerId="LiveId" clId="{3B2F6794-2969-4C6B-AC92-43D69AD6129D}" dt="2026-01-05T01:29:52.016" v="42" actId="14100"/>
          <ac:spMkLst>
            <pc:docMk/>
            <pc:sldMk cId="0" sldId="26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grpSp>
        <p:nvGrpSpPr>
          <p:cNvPr id="3" name="Group 3"/>
          <p:cNvGrpSpPr/>
          <p:nvPr/>
        </p:nvGrpSpPr>
        <p:grpSpPr>
          <a:xfrm>
            <a:off x="0" y="3376635"/>
            <a:ext cx="3213364" cy="675249"/>
            <a:chOff x="0" y="0"/>
            <a:chExt cx="4284485" cy="900332"/>
          </a:xfrm>
        </p:grpSpPr>
        <p:sp>
          <p:nvSpPr>
            <p:cNvPr id="4" name="TextBox 4"/>
            <p:cNvSpPr txBox="1"/>
            <p:nvPr/>
          </p:nvSpPr>
          <p:spPr>
            <a:xfrm>
              <a:off x="1189604" y="0"/>
              <a:ext cx="3094881" cy="508000"/>
            </a:xfrm>
            <a:prstGeom prst="rect">
              <a:avLst/>
            </a:prstGeom>
          </p:spPr>
          <p:txBody>
            <a:bodyPr lIns="0" tIns="0" rIns="0" bIns="0" rtlCol="0" anchor="t">
              <a:spAutoFit/>
            </a:bodyPr>
            <a:lstStyle/>
            <a:p>
              <a:pPr algn="l">
                <a:lnSpc>
                  <a:spcPts val="3000"/>
                </a:lnSpc>
              </a:pPr>
              <a:endParaRPr/>
            </a:p>
          </p:txBody>
        </p:sp>
        <p:sp>
          <p:nvSpPr>
            <p:cNvPr id="5" name="Freeform 5"/>
            <p:cNvSpPr/>
            <p:nvPr/>
          </p:nvSpPr>
          <p:spPr>
            <a:xfrm>
              <a:off x="0" y="189751"/>
              <a:ext cx="944010" cy="710582"/>
            </a:xfrm>
            <a:custGeom>
              <a:avLst/>
              <a:gdLst/>
              <a:ahLst/>
              <a:cxnLst/>
              <a:rect l="l" t="t" r="r" b="b"/>
              <a:pathLst>
                <a:path w="944010" h="710582">
                  <a:moveTo>
                    <a:pt x="0" y="0"/>
                  </a:moveTo>
                  <a:lnTo>
                    <a:pt x="944010" y="0"/>
                  </a:lnTo>
                  <a:lnTo>
                    <a:pt x="944010" y="710581"/>
                  </a:lnTo>
                  <a:lnTo>
                    <a:pt x="0" y="710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6" name="TextBox 6"/>
          <p:cNvSpPr txBox="1"/>
          <p:nvPr/>
        </p:nvSpPr>
        <p:spPr>
          <a:xfrm>
            <a:off x="882636" y="3224235"/>
            <a:ext cx="13518572" cy="3032738"/>
          </a:xfrm>
          <a:prstGeom prst="rect">
            <a:avLst/>
          </a:prstGeom>
        </p:spPr>
        <p:txBody>
          <a:bodyPr lIns="0" tIns="0" rIns="0" bIns="0" rtlCol="0" anchor="t">
            <a:spAutoFit/>
          </a:bodyPr>
          <a:lstStyle/>
          <a:p>
            <a:pPr algn="l">
              <a:lnSpc>
                <a:spcPts val="8100"/>
              </a:lnSpc>
            </a:pPr>
            <a:r>
              <a:rPr lang="en-US" sz="5400" dirty="0">
                <a:solidFill>
                  <a:srgbClr val="000000"/>
                </a:solidFill>
                <a:latin typeface="TAN Mon Cheri"/>
                <a:ea typeface="TAN Mon Cheri"/>
                <a:cs typeface="TAN Mon Cheri"/>
                <a:sym typeface="TAN Mon Cheri"/>
              </a:rPr>
              <a:t>SCHOOL ENROLLMENT &amp; EDUCATION PERFORMANCE ANALYTICS PLATFORM</a:t>
            </a:r>
          </a:p>
        </p:txBody>
      </p:sp>
      <p:sp>
        <p:nvSpPr>
          <p:cNvPr id="7" name="TextBox 7"/>
          <p:cNvSpPr txBox="1"/>
          <p:nvPr/>
        </p:nvSpPr>
        <p:spPr>
          <a:xfrm>
            <a:off x="1552631" y="8885555"/>
            <a:ext cx="3831127" cy="372745"/>
          </a:xfrm>
          <a:prstGeom prst="rect">
            <a:avLst/>
          </a:prstGeom>
        </p:spPr>
        <p:txBody>
          <a:bodyPr lIns="0" tIns="0" rIns="0" bIns="0" rtlCol="0" anchor="t">
            <a:spAutoFit/>
          </a:bodyPr>
          <a:lstStyle/>
          <a:p>
            <a:pPr marL="0" lvl="0" indent="0" algn="l">
              <a:lnSpc>
                <a:spcPts val="3080"/>
              </a:lnSpc>
              <a:spcBef>
                <a:spcPct val="0"/>
              </a:spcBef>
            </a:pPr>
            <a:endParaRPr/>
          </a:p>
        </p:txBody>
      </p:sp>
      <p:sp>
        <p:nvSpPr>
          <p:cNvPr id="8" name="TextBox 8"/>
          <p:cNvSpPr txBox="1"/>
          <p:nvPr/>
        </p:nvSpPr>
        <p:spPr>
          <a:xfrm>
            <a:off x="1028700" y="7133240"/>
            <a:ext cx="9156891" cy="1261110"/>
          </a:xfrm>
          <a:prstGeom prst="rect">
            <a:avLst/>
          </a:prstGeom>
        </p:spPr>
        <p:txBody>
          <a:bodyPr lIns="0" tIns="0" rIns="0" bIns="0" rtlCol="0" anchor="t">
            <a:spAutoFit/>
          </a:bodyPr>
          <a:lstStyle/>
          <a:p>
            <a:pPr marL="0" lvl="0" indent="0" algn="l">
              <a:lnSpc>
                <a:spcPts val="5039"/>
              </a:lnSpc>
              <a:spcBef>
                <a:spcPct val="0"/>
              </a:spcBef>
            </a:pPr>
            <a:r>
              <a:rPr lang="en-US" sz="3599">
                <a:solidFill>
                  <a:srgbClr val="000000"/>
                </a:solidFill>
                <a:latin typeface="TT Commons Pro"/>
                <a:ea typeface="TT Commons Pro"/>
                <a:cs typeface="TT Commons Pro"/>
                <a:sym typeface="TT Commons Pro"/>
              </a:rPr>
              <a:t>Ensuring data-driven analytics and actionable insights</a:t>
            </a:r>
          </a:p>
        </p:txBody>
      </p:sp>
      <p:sp>
        <p:nvSpPr>
          <p:cNvPr id="9" name="TextBox 9"/>
          <p:cNvSpPr txBox="1"/>
          <p:nvPr/>
        </p:nvSpPr>
        <p:spPr>
          <a:xfrm>
            <a:off x="14878437" y="8876030"/>
            <a:ext cx="2865831" cy="422275"/>
          </a:xfrm>
          <a:prstGeom prst="rect">
            <a:avLst/>
          </a:prstGeom>
        </p:spPr>
        <p:txBody>
          <a:bodyPr lIns="0" tIns="0" rIns="0" bIns="0" rtlCol="0" anchor="t">
            <a:spAutoFit/>
          </a:bodyPr>
          <a:lstStyle/>
          <a:p>
            <a:pPr algn="l">
              <a:lnSpc>
                <a:spcPts val="3499"/>
              </a:lnSpc>
            </a:pPr>
            <a:r>
              <a:rPr lang="en-US" sz="2499">
                <a:solidFill>
                  <a:srgbClr val="000000"/>
                </a:solidFill>
                <a:latin typeface="TT Commons Pro"/>
                <a:ea typeface="TT Commons Pro"/>
                <a:cs typeface="TT Commons Pro"/>
                <a:sym typeface="TT Commons Pro"/>
              </a:rPr>
              <a:t>Jan 2026</a:t>
            </a:r>
          </a:p>
        </p:txBody>
      </p:sp>
      <p:grpSp>
        <p:nvGrpSpPr>
          <p:cNvPr id="10" name="Group 10"/>
          <p:cNvGrpSpPr/>
          <p:nvPr/>
        </p:nvGrpSpPr>
        <p:grpSpPr>
          <a:xfrm>
            <a:off x="12231027" y="7583832"/>
            <a:ext cx="3802205" cy="982004"/>
            <a:chOff x="0" y="0"/>
            <a:chExt cx="5069606" cy="1309339"/>
          </a:xfrm>
        </p:grpSpPr>
        <p:sp>
          <p:nvSpPr>
            <p:cNvPr id="11" name="TextBox 11"/>
            <p:cNvSpPr txBox="1"/>
            <p:nvPr/>
          </p:nvSpPr>
          <p:spPr>
            <a:xfrm>
              <a:off x="0" y="-47625"/>
              <a:ext cx="5069606" cy="547159"/>
            </a:xfrm>
            <a:prstGeom prst="rect">
              <a:avLst/>
            </a:prstGeom>
          </p:spPr>
          <p:txBody>
            <a:bodyPr lIns="0" tIns="0" rIns="0" bIns="0" rtlCol="0" anchor="t">
              <a:spAutoFit/>
            </a:bodyPr>
            <a:lstStyle/>
            <a:p>
              <a:pPr algn="l">
                <a:lnSpc>
                  <a:spcPts val="3499"/>
                </a:lnSpc>
              </a:pPr>
              <a:r>
                <a:rPr lang="en-US" sz="2499">
                  <a:solidFill>
                    <a:srgbClr val="000000"/>
                  </a:solidFill>
                  <a:latin typeface="TT Commons Pro"/>
                  <a:ea typeface="TT Commons Pro"/>
                  <a:cs typeface="TT Commons Pro"/>
                  <a:sym typeface="TT Commons Pro"/>
                </a:rPr>
                <a:t>By</a:t>
              </a:r>
            </a:p>
          </p:txBody>
        </p:sp>
        <p:sp>
          <p:nvSpPr>
            <p:cNvPr id="12" name="TextBox 12"/>
            <p:cNvSpPr txBox="1"/>
            <p:nvPr/>
          </p:nvSpPr>
          <p:spPr>
            <a:xfrm>
              <a:off x="0" y="762180"/>
              <a:ext cx="5069606" cy="547159"/>
            </a:xfrm>
            <a:prstGeom prst="rect">
              <a:avLst/>
            </a:prstGeom>
          </p:spPr>
          <p:txBody>
            <a:bodyPr lIns="0" tIns="0" rIns="0" bIns="0" rtlCol="0" anchor="t">
              <a:spAutoFit/>
            </a:bodyPr>
            <a:lstStyle/>
            <a:p>
              <a:pPr algn="l">
                <a:lnSpc>
                  <a:spcPts val="3499"/>
                </a:lnSpc>
              </a:pPr>
              <a:r>
                <a:rPr lang="en-US" sz="2499" b="1">
                  <a:solidFill>
                    <a:srgbClr val="000000"/>
                  </a:solidFill>
                  <a:latin typeface="TT Commons Pro Bold"/>
                  <a:ea typeface="TT Commons Pro Bold"/>
                  <a:cs typeface="TT Commons Pro Bold"/>
                  <a:sym typeface="TT Commons Pro Bold"/>
                </a:rPr>
                <a:t>Bhavitha Sai Priya</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1E2F4"/>
        </a:solidFill>
        <a:effectLst/>
      </p:bgPr>
    </p:bg>
    <p:spTree>
      <p:nvGrpSpPr>
        <p:cNvPr id="1" name=""/>
        <p:cNvGrpSpPr/>
        <p:nvPr/>
      </p:nvGrpSpPr>
      <p:grpSpPr>
        <a:xfrm>
          <a:off x="0" y="0"/>
          <a:ext cx="0" cy="0"/>
          <a:chOff x="0" y="0"/>
          <a:chExt cx="0" cy="0"/>
        </a:xfrm>
      </p:grpSpPr>
      <p:sp>
        <p:nvSpPr>
          <p:cNvPr id="2" name="Freeform 2" descr="a glowing gradient brush stroke"/>
          <p:cNvSpPr/>
          <p:nvPr/>
        </p:nvSpPr>
        <p:spPr>
          <a:xfrm>
            <a:off x="-6410564" y="118125"/>
            <a:ext cx="15350424" cy="15350424"/>
          </a:xfrm>
          <a:custGeom>
            <a:avLst/>
            <a:gdLst/>
            <a:ahLst/>
            <a:cxnLst/>
            <a:rect l="l" t="t" r="r" b="b"/>
            <a:pathLst>
              <a:path w="15350424" h="15350424">
                <a:moveTo>
                  <a:pt x="0" y="0"/>
                </a:moveTo>
                <a:lnTo>
                  <a:pt x="15350424" y="0"/>
                </a:lnTo>
                <a:lnTo>
                  <a:pt x="15350424" y="15350424"/>
                </a:lnTo>
                <a:lnTo>
                  <a:pt x="0" y="15350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 rounded gradient shape"/>
          <p:cNvSpPr/>
          <p:nvPr/>
        </p:nvSpPr>
        <p:spPr>
          <a:xfrm>
            <a:off x="200430" y="1028700"/>
            <a:ext cx="1064217" cy="1064217"/>
          </a:xfrm>
          <a:custGeom>
            <a:avLst/>
            <a:gdLst/>
            <a:ahLst/>
            <a:cxnLst/>
            <a:rect l="l" t="t" r="r" b="b"/>
            <a:pathLst>
              <a:path w="1064217" h="1064217">
                <a:moveTo>
                  <a:pt x="0" y="0"/>
                </a:moveTo>
                <a:lnTo>
                  <a:pt x="1064218" y="0"/>
                </a:lnTo>
                <a:lnTo>
                  <a:pt x="1064218" y="1064217"/>
                </a:lnTo>
                <a:lnTo>
                  <a:pt x="0" y="10642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619375" y="1189483"/>
            <a:ext cx="12958048" cy="6170458"/>
            <a:chOff x="0" y="0"/>
            <a:chExt cx="17277397" cy="8227277"/>
          </a:xfrm>
        </p:grpSpPr>
        <p:sp>
          <p:nvSpPr>
            <p:cNvPr id="5" name="TextBox 5"/>
            <p:cNvSpPr txBox="1"/>
            <p:nvPr/>
          </p:nvSpPr>
          <p:spPr>
            <a:xfrm>
              <a:off x="0" y="-209550"/>
              <a:ext cx="9765532" cy="167259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ABSTRACT</a:t>
              </a:r>
            </a:p>
          </p:txBody>
        </p:sp>
        <p:sp>
          <p:nvSpPr>
            <p:cNvPr id="6" name="TextBox 6"/>
            <p:cNvSpPr txBox="1"/>
            <p:nvPr/>
          </p:nvSpPr>
          <p:spPr>
            <a:xfrm>
              <a:off x="0" y="3561297"/>
              <a:ext cx="17277397" cy="4665980"/>
            </a:xfrm>
            <a:prstGeom prst="rect">
              <a:avLst/>
            </a:prstGeom>
          </p:spPr>
          <p:txBody>
            <a:bodyPr lIns="0" tIns="0" rIns="0" bIns="0" rtlCol="0" anchor="t">
              <a:spAutoFit/>
            </a:bodyPr>
            <a:lstStyle/>
            <a:p>
              <a:pPr algn="l">
                <a:lnSpc>
                  <a:spcPts val="3510"/>
                </a:lnSpc>
              </a:pPr>
              <a:r>
                <a:rPr lang="en-US" sz="2700">
                  <a:solidFill>
                    <a:srgbClr val="000000"/>
                  </a:solidFill>
                  <a:latin typeface="TT Commons Pro"/>
                  <a:ea typeface="TT Commons Pro"/>
                  <a:cs typeface="TT Commons Pro"/>
                  <a:sym typeface="TT Commons Pro"/>
                </a:rPr>
                <a:t>This project presents an end-to-end School Enrollment and Education Performance Analytics Platform built using modern data engineering and analytics technologies. The system leverages Databricks, Apache Airflow, and Power BI to automate the ingestion, transformation, and analysis of large-scale educational datasets. By adopting a Medallion Architecture, the platform enables clean data processing, scalable analytics, and actionable insights. The solution supports performance monitoring, enrollment trend analysis, and target-versus-actual evaluation, helping educational institutions transition from traditional reporting to data-driven decision-making.</a:t>
              </a:r>
            </a:p>
          </p:txBody>
        </p:sp>
      </p:grpSp>
      <p:sp>
        <p:nvSpPr>
          <p:cNvPr id="7" name="TextBox 7"/>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D0E0">
                <a:alpha val="100000"/>
              </a:srgbClr>
            </a:gs>
            <a:gs pos="50000">
              <a:srgbClr val="C6A4BF">
                <a:alpha val="55000"/>
              </a:srgbClr>
            </a:gs>
            <a:gs pos="100000">
              <a:srgbClr val="EAA86B">
                <a:alpha val="55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751966" y="3938619"/>
          <a:ext cx="13752235" cy="4306836"/>
        </p:xfrm>
        <a:graphic>
          <a:graphicData uri="http://schemas.openxmlformats.org/drawingml/2006/table">
            <a:tbl>
              <a:tblPr/>
              <a:tblGrid>
                <a:gridCol w="13752235">
                  <a:extLst>
                    <a:ext uri="{9D8B030D-6E8A-4147-A177-3AD203B41FA5}">
                      <a16:colId xmlns:a16="http://schemas.microsoft.com/office/drawing/2014/main" val="20000"/>
                    </a:ext>
                  </a:extLst>
                </a:gridCol>
              </a:tblGrid>
              <a:tr h="4306836">
                <a:tc>
                  <a:txBody>
                    <a:bodyPr/>
                    <a:lstStyle/>
                    <a:p>
                      <a:pPr marL="647700" lvl="1" indent="-323850" algn="just">
                        <a:lnSpc>
                          <a:spcPts val="4200"/>
                        </a:lnSpc>
                        <a:buFont typeface="Arial"/>
                        <a:buChar char="•"/>
                        <a:defRPr/>
                      </a:pPr>
                      <a:r>
                        <a:rPr lang="en-US" sz="3000">
                          <a:solidFill>
                            <a:srgbClr val="000000"/>
                          </a:solidFill>
                          <a:latin typeface="TT Commons Pro"/>
                          <a:ea typeface="TT Commons Pro"/>
                          <a:cs typeface="TT Commons Pro"/>
                          <a:sym typeface="TT Commons Pro"/>
                        </a:rPr>
                        <a:t>Educational institutions generate large volumes of enrollment and performance data</a:t>
                      </a:r>
                      <a:endParaRPr lang="en-US" sz="1100"/>
                    </a:p>
                    <a:p>
                      <a:pPr marL="647700" lvl="1" indent="-323850" algn="just">
                        <a:lnSpc>
                          <a:spcPts val="4200"/>
                        </a:lnSpc>
                        <a:buFont typeface="Arial"/>
                        <a:buChar char="•"/>
                      </a:pPr>
                      <a:r>
                        <a:rPr lang="en-US" sz="3000">
                          <a:solidFill>
                            <a:srgbClr val="000000"/>
                          </a:solidFill>
                          <a:latin typeface="TT Commons Pro"/>
                          <a:ea typeface="TT Commons Pro"/>
                          <a:cs typeface="TT Commons Pro"/>
                          <a:sym typeface="TT Commons Pro"/>
                        </a:rPr>
                        <a:t>Data is spread across multiple sources and formats</a:t>
                      </a:r>
                    </a:p>
                    <a:p>
                      <a:pPr marL="647700" lvl="1" indent="-323850" algn="just">
                        <a:lnSpc>
                          <a:spcPts val="4200"/>
                        </a:lnSpc>
                        <a:buFont typeface="Arial"/>
                        <a:buChar char="•"/>
                      </a:pPr>
                      <a:r>
                        <a:rPr lang="en-US" sz="3000">
                          <a:solidFill>
                            <a:srgbClr val="000000"/>
                          </a:solidFill>
                          <a:latin typeface="TT Commons Pro"/>
                          <a:ea typeface="TT Commons Pro"/>
                          <a:cs typeface="TT Commons Pro"/>
                          <a:sym typeface="TT Commons Pro"/>
                        </a:rPr>
                        <a:t>Traditional processing methods are manual and inefficient</a:t>
                      </a:r>
                    </a:p>
                    <a:p>
                      <a:pPr marL="647700" lvl="1" indent="-323850" algn="just">
                        <a:lnSpc>
                          <a:spcPts val="4200"/>
                        </a:lnSpc>
                        <a:buFont typeface="Arial"/>
                        <a:buChar char="•"/>
                      </a:pPr>
                      <a:r>
                        <a:rPr lang="en-US" sz="3000">
                          <a:solidFill>
                            <a:srgbClr val="000000"/>
                          </a:solidFill>
                          <a:latin typeface="TT Commons Pro"/>
                          <a:ea typeface="TT Commons Pro"/>
                          <a:cs typeface="TT Commons Pro"/>
                          <a:sym typeface="TT Commons Pro"/>
                        </a:rPr>
                        <a:t>Lack of automation limits timely insights and trend analysis</a:t>
                      </a:r>
                    </a:p>
                    <a:p>
                      <a:pPr marL="647700" lvl="1" indent="-323850" algn="just">
                        <a:lnSpc>
                          <a:spcPts val="4200"/>
                        </a:lnSpc>
                        <a:buFont typeface="Arial"/>
                        <a:buChar char="•"/>
                      </a:pPr>
                      <a:r>
                        <a:rPr lang="en-US" sz="3000">
                          <a:solidFill>
                            <a:srgbClr val="000000"/>
                          </a:solidFill>
                          <a:latin typeface="TT Commons Pro"/>
                          <a:ea typeface="TT Commons Pro"/>
                          <a:cs typeface="TT Commons Pro"/>
                          <a:sym typeface="TT Commons Pro"/>
                        </a:rPr>
                        <a:t>Difficulty in evaluating performance and measuring progress against targets</a:t>
                      </a:r>
                    </a:p>
                    <a:p>
                      <a:pPr marL="647700" lvl="1" indent="-323850" algn="just">
                        <a:lnSpc>
                          <a:spcPts val="4200"/>
                        </a:lnSpc>
                        <a:buFont typeface="Arial"/>
                        <a:buChar char="•"/>
                      </a:pPr>
                      <a:r>
                        <a:rPr lang="en-US" sz="3000">
                          <a:solidFill>
                            <a:srgbClr val="000000"/>
                          </a:solidFill>
                          <a:latin typeface="TT Commons Pro"/>
                          <a:ea typeface="TT Commons Pro"/>
                          <a:cs typeface="TT Commons Pro"/>
                          <a:sym typeface="TT Commons Pro"/>
                        </a:rPr>
                        <a:t>Need for a scalable, automated, analytics-driven platform</a:t>
                      </a:r>
                    </a:p>
                  </a:txBody>
                  <a:tcPr marL="0" marR="0" marT="0" marB="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Freeform 3" descr="a glowing gradient brush stroke "/>
          <p:cNvSpPr/>
          <p:nvPr/>
        </p:nvSpPr>
        <p:spPr>
          <a:xfrm rot="9007576">
            <a:off x="-5156947" y="5322320"/>
            <a:ext cx="10624840" cy="12724359"/>
          </a:xfrm>
          <a:custGeom>
            <a:avLst/>
            <a:gdLst/>
            <a:ahLst/>
            <a:cxnLst/>
            <a:rect l="l" t="t" r="r" b="b"/>
            <a:pathLst>
              <a:path w="10624840" h="12724359">
                <a:moveTo>
                  <a:pt x="0" y="0"/>
                </a:moveTo>
                <a:lnTo>
                  <a:pt x="10624840" y="0"/>
                </a:lnTo>
                <a:lnTo>
                  <a:pt x="10624840" y="12724359"/>
                </a:lnTo>
                <a:lnTo>
                  <a:pt x="0" y="12724359"/>
                </a:lnTo>
                <a:lnTo>
                  <a:pt x="0" y="0"/>
                </a:lnTo>
                <a:close/>
              </a:path>
            </a:pathLst>
          </a:custGeom>
          <a:blipFill>
            <a:blip r:embed="rId2">
              <a:alphaModFix amt="85000"/>
            </a:blip>
            <a:stretch>
              <a:fillRect/>
            </a:stretch>
          </a:blipFill>
        </p:spPr>
        <p:txBody>
          <a:bodyPr/>
          <a:lstStyle/>
          <a:p>
            <a:endParaRPr lang="en-US"/>
          </a:p>
        </p:txBody>
      </p:sp>
      <p:grpSp>
        <p:nvGrpSpPr>
          <p:cNvPr id="4" name="Group 4"/>
          <p:cNvGrpSpPr/>
          <p:nvPr/>
        </p:nvGrpSpPr>
        <p:grpSpPr>
          <a:xfrm>
            <a:off x="1028700" y="1040775"/>
            <a:ext cx="8115300" cy="3202999"/>
            <a:chOff x="0" y="0"/>
            <a:chExt cx="10820400" cy="4270665"/>
          </a:xfrm>
        </p:grpSpPr>
        <p:sp>
          <p:nvSpPr>
            <p:cNvPr id="5" name="TextBox 5"/>
            <p:cNvSpPr txBox="1"/>
            <p:nvPr/>
          </p:nvSpPr>
          <p:spPr>
            <a:xfrm>
              <a:off x="0" y="-209550"/>
              <a:ext cx="10820400" cy="350139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PROBLEM STATEMENT</a:t>
              </a:r>
            </a:p>
          </p:txBody>
        </p:sp>
        <p:sp>
          <p:nvSpPr>
            <p:cNvPr id="6" name="TextBox 6"/>
            <p:cNvSpPr txBox="1"/>
            <p:nvPr/>
          </p:nvSpPr>
          <p:spPr>
            <a:xfrm>
              <a:off x="0" y="3539357"/>
              <a:ext cx="10820400" cy="731308"/>
            </a:xfrm>
            <a:prstGeom prst="rect">
              <a:avLst/>
            </a:prstGeom>
          </p:spPr>
          <p:txBody>
            <a:bodyPr lIns="0" tIns="0" rIns="0" bIns="0" rtlCol="0" anchor="t">
              <a:spAutoFit/>
            </a:bodyPr>
            <a:lstStyle/>
            <a:p>
              <a:pPr algn="l">
                <a:lnSpc>
                  <a:spcPts val="4550"/>
                </a:lnSpc>
              </a:pPr>
              <a:endParaRPr/>
            </a:p>
          </p:txBody>
        </p:sp>
      </p:grpSp>
      <p:sp>
        <p:nvSpPr>
          <p:cNvPr id="7" name="TextBox 7"/>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glowing gradient brush stroke "/>
          <p:cNvSpPr/>
          <p:nvPr/>
        </p:nvSpPr>
        <p:spPr>
          <a:xfrm>
            <a:off x="-6646512" y="0"/>
            <a:ext cx="15350424" cy="15350424"/>
          </a:xfrm>
          <a:custGeom>
            <a:avLst/>
            <a:gdLst/>
            <a:ahLst/>
            <a:cxnLst/>
            <a:rect l="l" t="t" r="r" b="b"/>
            <a:pathLst>
              <a:path w="15350424" h="15350424">
                <a:moveTo>
                  <a:pt x="0" y="0"/>
                </a:moveTo>
                <a:lnTo>
                  <a:pt x="15350424" y="0"/>
                </a:lnTo>
                <a:lnTo>
                  <a:pt x="15350424" y="15350424"/>
                </a:lnTo>
                <a:lnTo>
                  <a:pt x="0" y="15350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 glowing gradient brush stroke "/>
          <p:cNvSpPr/>
          <p:nvPr/>
        </p:nvSpPr>
        <p:spPr>
          <a:xfrm rot="437564">
            <a:off x="13827137" y="-969293"/>
            <a:ext cx="14184276" cy="14660750"/>
          </a:xfrm>
          <a:custGeom>
            <a:avLst/>
            <a:gdLst/>
            <a:ahLst/>
            <a:cxnLst/>
            <a:rect l="l" t="t" r="r" b="b"/>
            <a:pathLst>
              <a:path w="14184276" h="14660750">
                <a:moveTo>
                  <a:pt x="0" y="0"/>
                </a:moveTo>
                <a:lnTo>
                  <a:pt x="14184276" y="0"/>
                </a:lnTo>
                <a:lnTo>
                  <a:pt x="14184276" y="14660750"/>
                </a:lnTo>
                <a:lnTo>
                  <a:pt x="0" y="14660750"/>
                </a:lnTo>
                <a:lnTo>
                  <a:pt x="0" y="0"/>
                </a:lnTo>
                <a:close/>
              </a:path>
            </a:pathLst>
          </a:custGeom>
          <a:blipFill>
            <a:blip r:embed="rId4">
              <a:alphaModFix amt="85000"/>
            </a:blip>
            <a:stretch>
              <a:fillRect/>
            </a:stretch>
          </a:blipFill>
        </p:spPr>
        <p:txBody>
          <a:bodyPr/>
          <a:lstStyle/>
          <a:p>
            <a:endParaRPr lang="en-US"/>
          </a:p>
        </p:txBody>
      </p:sp>
      <p:sp>
        <p:nvSpPr>
          <p:cNvPr id="4" name="TextBox 4"/>
          <p:cNvSpPr txBox="1"/>
          <p:nvPr/>
        </p:nvSpPr>
        <p:spPr>
          <a:xfrm>
            <a:off x="2752490" y="2925547"/>
            <a:ext cx="11836242" cy="1212640"/>
          </a:xfrm>
          <a:prstGeom prst="rect">
            <a:avLst/>
          </a:prstGeom>
        </p:spPr>
        <p:txBody>
          <a:bodyPr lIns="0" tIns="0" rIns="0" bIns="0" rtlCol="0" anchor="t">
            <a:spAutoFit/>
          </a:bodyPr>
          <a:lstStyle/>
          <a:p>
            <a:pPr algn="l">
              <a:lnSpc>
                <a:spcPts val="3237"/>
              </a:lnSpc>
            </a:pPr>
            <a:r>
              <a:rPr lang="en-US" sz="2490">
                <a:solidFill>
                  <a:srgbClr val="000000"/>
                </a:solidFill>
                <a:latin typeface="TT Commons Pro"/>
                <a:ea typeface="TT Commons Pro"/>
                <a:cs typeface="TT Commons Pro"/>
                <a:sym typeface="TT Commons Pro"/>
              </a:rPr>
              <a:t>To design and implement an end-to-end ETL pipeline for education enrollment data</a:t>
            </a:r>
          </a:p>
          <a:p>
            <a:pPr algn="l">
              <a:lnSpc>
                <a:spcPts val="3237"/>
              </a:lnSpc>
            </a:pPr>
            <a:endParaRPr lang="en-US" sz="2490">
              <a:solidFill>
                <a:srgbClr val="000000"/>
              </a:solidFill>
              <a:latin typeface="TT Commons Pro"/>
              <a:ea typeface="TT Commons Pro"/>
              <a:cs typeface="TT Commons Pro"/>
              <a:sym typeface="TT Commons Pro"/>
            </a:endParaRPr>
          </a:p>
          <a:p>
            <a:pPr algn="l">
              <a:lnSpc>
                <a:spcPts val="3237"/>
              </a:lnSpc>
            </a:pPr>
            <a:endParaRPr lang="en-US" sz="2490">
              <a:solidFill>
                <a:srgbClr val="000000"/>
              </a:solidFill>
              <a:latin typeface="TT Commons Pro"/>
              <a:ea typeface="TT Commons Pro"/>
              <a:cs typeface="TT Commons Pro"/>
              <a:sym typeface="TT Commons Pro"/>
            </a:endParaRPr>
          </a:p>
        </p:txBody>
      </p:sp>
      <p:sp>
        <p:nvSpPr>
          <p:cNvPr id="5" name="TextBox 5"/>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4</a:t>
            </a:r>
          </a:p>
        </p:txBody>
      </p:sp>
      <p:sp>
        <p:nvSpPr>
          <p:cNvPr id="6" name="Freeform 6" descr="a rounded gradient shape"/>
          <p:cNvSpPr/>
          <p:nvPr/>
        </p:nvSpPr>
        <p:spPr>
          <a:xfrm>
            <a:off x="1264611" y="2724966"/>
            <a:ext cx="1064217" cy="1064217"/>
          </a:xfrm>
          <a:custGeom>
            <a:avLst/>
            <a:gdLst/>
            <a:ahLst/>
            <a:cxnLst/>
            <a:rect l="l" t="t" r="r" b="b"/>
            <a:pathLst>
              <a:path w="1064217" h="1064217">
                <a:moveTo>
                  <a:pt x="0" y="0"/>
                </a:moveTo>
                <a:lnTo>
                  <a:pt x="1064218" y="0"/>
                </a:lnTo>
                <a:lnTo>
                  <a:pt x="1064218" y="1064218"/>
                </a:lnTo>
                <a:lnTo>
                  <a:pt x="0" y="10642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264611" y="971096"/>
            <a:ext cx="5316287" cy="877570"/>
          </a:xfrm>
          <a:prstGeom prst="rect">
            <a:avLst/>
          </a:prstGeom>
        </p:spPr>
        <p:txBody>
          <a:bodyPr lIns="0" tIns="0" rIns="0" bIns="0" rtlCol="0" anchor="t">
            <a:spAutoFit/>
          </a:bodyPr>
          <a:lstStyle/>
          <a:p>
            <a:pPr algn="ctr">
              <a:lnSpc>
                <a:spcPts val="7279"/>
              </a:lnSpc>
            </a:pPr>
            <a:r>
              <a:rPr lang="en-US" sz="5199">
                <a:solidFill>
                  <a:srgbClr val="000000"/>
                </a:solidFill>
                <a:latin typeface="TAN Mon Cheri"/>
                <a:ea typeface="TAN Mon Cheri"/>
                <a:cs typeface="TAN Mon Cheri"/>
                <a:sym typeface="TAN Mon Cheri"/>
              </a:rPr>
              <a:t>OBJECTIVES</a:t>
            </a:r>
          </a:p>
        </p:txBody>
      </p:sp>
      <p:sp>
        <p:nvSpPr>
          <p:cNvPr id="8" name="TextBox 8"/>
          <p:cNvSpPr txBox="1"/>
          <p:nvPr/>
        </p:nvSpPr>
        <p:spPr>
          <a:xfrm>
            <a:off x="2785791" y="4049688"/>
            <a:ext cx="11836242" cy="1212640"/>
          </a:xfrm>
          <a:prstGeom prst="rect">
            <a:avLst/>
          </a:prstGeom>
        </p:spPr>
        <p:txBody>
          <a:bodyPr lIns="0" tIns="0" rIns="0" bIns="0" rtlCol="0" anchor="t">
            <a:spAutoFit/>
          </a:bodyPr>
          <a:lstStyle/>
          <a:p>
            <a:pPr algn="l">
              <a:lnSpc>
                <a:spcPts val="3237"/>
              </a:lnSpc>
            </a:pPr>
            <a:r>
              <a:rPr lang="en-US" sz="2490">
                <a:solidFill>
                  <a:srgbClr val="000000"/>
                </a:solidFill>
                <a:latin typeface="TT Commons Pro"/>
                <a:ea typeface="TT Commons Pro"/>
                <a:cs typeface="TT Commons Pro"/>
                <a:sym typeface="TT Commons Pro"/>
              </a:rPr>
              <a:t>To clean, standardize, and validate raw datasets using scalable data processing techniques</a:t>
            </a:r>
          </a:p>
          <a:p>
            <a:pPr algn="l">
              <a:lnSpc>
                <a:spcPts val="3237"/>
              </a:lnSpc>
            </a:pPr>
            <a:endParaRPr lang="en-US" sz="2490">
              <a:solidFill>
                <a:srgbClr val="000000"/>
              </a:solidFill>
              <a:latin typeface="TT Commons Pro"/>
              <a:ea typeface="TT Commons Pro"/>
              <a:cs typeface="TT Commons Pro"/>
              <a:sym typeface="TT Commons Pro"/>
            </a:endParaRPr>
          </a:p>
        </p:txBody>
      </p:sp>
      <p:sp>
        <p:nvSpPr>
          <p:cNvPr id="9" name="Freeform 9" descr="a rounded gradient shape"/>
          <p:cNvSpPr/>
          <p:nvPr/>
        </p:nvSpPr>
        <p:spPr>
          <a:xfrm>
            <a:off x="1264611" y="4138186"/>
            <a:ext cx="1064217" cy="1064217"/>
          </a:xfrm>
          <a:custGeom>
            <a:avLst/>
            <a:gdLst/>
            <a:ahLst/>
            <a:cxnLst/>
            <a:rect l="l" t="t" r="r" b="b"/>
            <a:pathLst>
              <a:path w="1064217" h="1064217">
                <a:moveTo>
                  <a:pt x="0" y="0"/>
                </a:moveTo>
                <a:lnTo>
                  <a:pt x="1064218" y="0"/>
                </a:lnTo>
                <a:lnTo>
                  <a:pt x="1064218" y="1064218"/>
                </a:lnTo>
                <a:lnTo>
                  <a:pt x="0" y="10642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TextBox 10"/>
          <p:cNvSpPr txBox="1"/>
          <p:nvPr/>
        </p:nvSpPr>
        <p:spPr>
          <a:xfrm>
            <a:off x="2843749" y="5959284"/>
            <a:ext cx="11778284" cy="803595"/>
          </a:xfrm>
          <a:prstGeom prst="rect">
            <a:avLst/>
          </a:prstGeom>
        </p:spPr>
        <p:txBody>
          <a:bodyPr lIns="0" tIns="0" rIns="0" bIns="0" rtlCol="0" anchor="t">
            <a:spAutoFit/>
          </a:bodyPr>
          <a:lstStyle/>
          <a:p>
            <a:pPr algn="l">
              <a:lnSpc>
                <a:spcPts val="3221"/>
              </a:lnSpc>
            </a:pPr>
            <a:r>
              <a:rPr lang="en-US" sz="2478">
                <a:solidFill>
                  <a:srgbClr val="000000"/>
                </a:solidFill>
                <a:latin typeface="TT Commons Pro"/>
                <a:ea typeface="TT Commons Pro"/>
                <a:cs typeface="TT Commons Pro"/>
                <a:sym typeface="TT Commons Pro"/>
              </a:rPr>
              <a:t>To generate analytics-ready datasets for performance evaluation and reporting</a:t>
            </a:r>
          </a:p>
          <a:p>
            <a:pPr algn="l">
              <a:lnSpc>
                <a:spcPts val="3221"/>
              </a:lnSpc>
            </a:pPr>
            <a:endParaRPr lang="en-US" sz="2478">
              <a:solidFill>
                <a:srgbClr val="000000"/>
              </a:solidFill>
              <a:latin typeface="TT Commons Pro"/>
              <a:ea typeface="TT Commons Pro"/>
              <a:cs typeface="TT Commons Pro"/>
              <a:sym typeface="TT Commons Pro"/>
            </a:endParaRPr>
          </a:p>
        </p:txBody>
      </p:sp>
      <p:sp>
        <p:nvSpPr>
          <p:cNvPr id="11" name="Freeform 11" descr="a rounded gradient shape"/>
          <p:cNvSpPr/>
          <p:nvPr/>
        </p:nvSpPr>
        <p:spPr>
          <a:xfrm>
            <a:off x="1264611" y="5688628"/>
            <a:ext cx="1064217" cy="1064217"/>
          </a:xfrm>
          <a:custGeom>
            <a:avLst/>
            <a:gdLst/>
            <a:ahLst/>
            <a:cxnLst/>
            <a:rect l="l" t="t" r="r" b="b"/>
            <a:pathLst>
              <a:path w="1064217" h="1064217">
                <a:moveTo>
                  <a:pt x="0" y="0"/>
                </a:moveTo>
                <a:lnTo>
                  <a:pt x="1064218" y="0"/>
                </a:lnTo>
                <a:lnTo>
                  <a:pt x="1064218" y="1064217"/>
                </a:lnTo>
                <a:lnTo>
                  <a:pt x="0" y="10642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2"/>
          <p:cNvSpPr txBox="1"/>
          <p:nvPr/>
        </p:nvSpPr>
        <p:spPr>
          <a:xfrm>
            <a:off x="2843749" y="7459835"/>
            <a:ext cx="11836242" cy="402178"/>
          </a:xfrm>
          <a:prstGeom prst="rect">
            <a:avLst/>
          </a:prstGeom>
        </p:spPr>
        <p:txBody>
          <a:bodyPr lIns="0" tIns="0" rIns="0" bIns="0" rtlCol="0" anchor="t">
            <a:spAutoFit/>
          </a:bodyPr>
          <a:lstStyle/>
          <a:p>
            <a:pPr algn="l">
              <a:lnSpc>
                <a:spcPts val="3237"/>
              </a:lnSpc>
            </a:pPr>
            <a:r>
              <a:rPr lang="en-US" sz="2490">
                <a:solidFill>
                  <a:srgbClr val="000000"/>
                </a:solidFill>
                <a:latin typeface="TT Commons Pro"/>
                <a:ea typeface="TT Commons Pro"/>
                <a:cs typeface="TT Commons Pro"/>
                <a:sym typeface="TT Commons Pro"/>
              </a:rPr>
              <a:t>To automate data workflows using Apache Airflow</a:t>
            </a:r>
          </a:p>
        </p:txBody>
      </p:sp>
      <p:sp>
        <p:nvSpPr>
          <p:cNvPr id="13" name="Freeform 13" descr="a rounded gradient shape"/>
          <p:cNvSpPr/>
          <p:nvPr/>
        </p:nvSpPr>
        <p:spPr>
          <a:xfrm>
            <a:off x="1264611" y="7238620"/>
            <a:ext cx="1064217" cy="1064217"/>
          </a:xfrm>
          <a:custGeom>
            <a:avLst/>
            <a:gdLst/>
            <a:ahLst/>
            <a:cxnLst/>
            <a:rect l="l" t="t" r="r" b="b"/>
            <a:pathLst>
              <a:path w="1064217" h="1064217">
                <a:moveTo>
                  <a:pt x="0" y="0"/>
                </a:moveTo>
                <a:lnTo>
                  <a:pt x="1064218" y="0"/>
                </a:lnTo>
                <a:lnTo>
                  <a:pt x="1064218" y="1064218"/>
                </a:lnTo>
                <a:lnTo>
                  <a:pt x="0" y="10642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TextBox 14"/>
          <p:cNvSpPr txBox="1"/>
          <p:nvPr/>
        </p:nvSpPr>
        <p:spPr>
          <a:xfrm>
            <a:off x="2843749" y="8840308"/>
            <a:ext cx="11836242" cy="807409"/>
          </a:xfrm>
          <a:prstGeom prst="rect">
            <a:avLst/>
          </a:prstGeom>
        </p:spPr>
        <p:txBody>
          <a:bodyPr lIns="0" tIns="0" rIns="0" bIns="0" rtlCol="0" anchor="t">
            <a:spAutoFit/>
          </a:bodyPr>
          <a:lstStyle/>
          <a:p>
            <a:pPr algn="l">
              <a:lnSpc>
                <a:spcPts val="3237"/>
              </a:lnSpc>
            </a:pPr>
            <a:r>
              <a:rPr lang="en-US" sz="2490">
                <a:solidFill>
                  <a:srgbClr val="000000"/>
                </a:solidFill>
                <a:latin typeface="TT Commons Pro"/>
                <a:ea typeface="TT Commons Pro"/>
                <a:cs typeface="TT Commons Pro"/>
                <a:sym typeface="TT Commons Pro"/>
              </a:rPr>
              <a:t>To support data-driven decision-making through structured analytics outputs</a:t>
            </a:r>
          </a:p>
          <a:p>
            <a:pPr algn="l">
              <a:lnSpc>
                <a:spcPts val="3237"/>
              </a:lnSpc>
            </a:pPr>
            <a:endParaRPr lang="en-US" sz="2490">
              <a:solidFill>
                <a:srgbClr val="000000"/>
              </a:solidFill>
              <a:latin typeface="TT Commons Pro"/>
              <a:ea typeface="TT Commons Pro"/>
              <a:cs typeface="TT Commons Pro"/>
              <a:sym typeface="TT Commons Pro"/>
            </a:endParaRPr>
          </a:p>
        </p:txBody>
      </p:sp>
      <p:sp>
        <p:nvSpPr>
          <p:cNvPr id="15" name="Freeform 15" descr="a rounded gradient shape"/>
          <p:cNvSpPr/>
          <p:nvPr/>
        </p:nvSpPr>
        <p:spPr>
          <a:xfrm>
            <a:off x="1264611" y="8638063"/>
            <a:ext cx="1064217" cy="1064217"/>
          </a:xfrm>
          <a:custGeom>
            <a:avLst/>
            <a:gdLst/>
            <a:ahLst/>
            <a:cxnLst/>
            <a:rect l="l" t="t" r="r" b="b"/>
            <a:pathLst>
              <a:path w="1064217" h="1064217">
                <a:moveTo>
                  <a:pt x="0" y="0"/>
                </a:moveTo>
                <a:lnTo>
                  <a:pt x="1064218" y="0"/>
                </a:lnTo>
                <a:lnTo>
                  <a:pt x="1064218" y="1064218"/>
                </a:lnTo>
                <a:lnTo>
                  <a:pt x="0" y="10642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D0E0"/>
        </a:solidFill>
        <a:effectLst/>
      </p:bgPr>
    </p:bg>
    <p:spTree>
      <p:nvGrpSpPr>
        <p:cNvPr id="1" name=""/>
        <p:cNvGrpSpPr/>
        <p:nvPr/>
      </p:nvGrpSpPr>
      <p:grpSpPr>
        <a:xfrm>
          <a:off x="0" y="0"/>
          <a:ext cx="0" cy="0"/>
          <a:chOff x="0" y="0"/>
          <a:chExt cx="0" cy="0"/>
        </a:xfrm>
      </p:grpSpPr>
      <p:sp>
        <p:nvSpPr>
          <p:cNvPr id="2" name="Freeform 2" descr="a glowing gradient brush stroke "/>
          <p:cNvSpPr/>
          <p:nvPr/>
        </p:nvSpPr>
        <p:spPr>
          <a:xfrm>
            <a:off x="-3076792" y="3699120"/>
            <a:ext cx="13938055" cy="13938055"/>
          </a:xfrm>
          <a:custGeom>
            <a:avLst/>
            <a:gdLst/>
            <a:ahLst/>
            <a:cxnLst/>
            <a:rect l="l" t="t" r="r" b="b"/>
            <a:pathLst>
              <a:path w="13938055" h="13938055">
                <a:moveTo>
                  <a:pt x="0" y="0"/>
                </a:moveTo>
                <a:lnTo>
                  <a:pt x="13938055" y="0"/>
                </a:lnTo>
                <a:lnTo>
                  <a:pt x="13938055" y="13938055"/>
                </a:lnTo>
                <a:lnTo>
                  <a:pt x="0" y="139380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231111" y="1020690"/>
            <a:ext cx="10051381" cy="267843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DATASET </a:t>
            </a:r>
          </a:p>
          <a:p>
            <a:pPr algn="l">
              <a:lnSpc>
                <a:spcPts val="10800"/>
              </a:lnSpc>
            </a:pPr>
            <a:r>
              <a:rPr lang="en-US" sz="7200">
                <a:solidFill>
                  <a:srgbClr val="000000"/>
                </a:solidFill>
                <a:latin typeface="TAN Mon Cheri"/>
                <a:ea typeface="TAN Mon Cheri"/>
                <a:cs typeface="TAN Mon Cheri"/>
                <a:sym typeface="TAN Mon Cheri"/>
              </a:rPr>
              <a:t>DESCRIPTION</a:t>
            </a:r>
          </a:p>
        </p:txBody>
      </p:sp>
      <p:sp>
        <p:nvSpPr>
          <p:cNvPr id="4" name="TextBox 4"/>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5</a:t>
            </a:r>
          </a:p>
        </p:txBody>
      </p:sp>
      <p:sp>
        <p:nvSpPr>
          <p:cNvPr id="5" name="TextBox 5"/>
          <p:cNvSpPr txBox="1"/>
          <p:nvPr/>
        </p:nvSpPr>
        <p:spPr>
          <a:xfrm>
            <a:off x="3265346" y="4513435"/>
            <a:ext cx="14470162" cy="298069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School-level enrollment and academic performance data</a:t>
            </a:r>
          </a:p>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Collected across multiple academic years</a:t>
            </a:r>
          </a:p>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Includes records from different schools, grades, and districts</a:t>
            </a:r>
          </a:p>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Contains demographic details such as gender-wise enrollment</a:t>
            </a:r>
          </a:p>
          <a:p>
            <a:pPr marL="734059" lvl="1" indent="-367030" algn="just">
              <a:lnSpc>
                <a:spcPts val="4759"/>
              </a:lnSpc>
              <a:buFont typeface="Arial"/>
              <a:buChar char="•"/>
            </a:pPr>
            <a:r>
              <a:rPr lang="en-US" sz="3399">
                <a:solidFill>
                  <a:srgbClr val="000000"/>
                </a:solidFill>
                <a:latin typeface="Canva Sans"/>
                <a:ea typeface="Canva Sans"/>
                <a:cs typeface="Canva Sans"/>
                <a:sym typeface="Canva Sans"/>
              </a:rPr>
              <a:t>Includes attendance rates, pass rates, and performance indicators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glowing gradient brush stroke"/>
          <p:cNvSpPr/>
          <p:nvPr/>
        </p:nvSpPr>
        <p:spPr>
          <a:xfrm>
            <a:off x="4992543" y="887125"/>
            <a:ext cx="8553310" cy="8553310"/>
          </a:xfrm>
          <a:custGeom>
            <a:avLst/>
            <a:gdLst/>
            <a:ahLst/>
            <a:cxnLst/>
            <a:rect l="l" t="t" r="r" b="b"/>
            <a:pathLst>
              <a:path w="8553310" h="8553310">
                <a:moveTo>
                  <a:pt x="0" y="0"/>
                </a:moveTo>
                <a:lnTo>
                  <a:pt x="8553310" y="0"/>
                </a:lnTo>
                <a:lnTo>
                  <a:pt x="8553310" y="8553310"/>
                </a:lnTo>
                <a:lnTo>
                  <a:pt x="0" y="8553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244769">
            <a:off x="12464519" y="-8076814"/>
            <a:ext cx="9758288" cy="11601735"/>
          </a:xfrm>
          <a:custGeom>
            <a:avLst/>
            <a:gdLst/>
            <a:ahLst/>
            <a:cxnLst/>
            <a:rect l="l" t="t" r="r" b="b"/>
            <a:pathLst>
              <a:path w="12326388" h="12824155">
                <a:moveTo>
                  <a:pt x="0" y="0"/>
                </a:moveTo>
                <a:lnTo>
                  <a:pt x="12326387" y="0"/>
                </a:lnTo>
                <a:lnTo>
                  <a:pt x="12326387" y="12824154"/>
                </a:lnTo>
                <a:lnTo>
                  <a:pt x="0" y="12824154"/>
                </a:lnTo>
                <a:lnTo>
                  <a:pt x="0" y="0"/>
                </a:lnTo>
                <a:close/>
              </a:path>
            </a:pathLst>
          </a:custGeom>
          <a:blipFill>
            <a:blip r:embed="rId4"/>
            <a:stretch>
              <a:fillRect l="-328" r="-328"/>
            </a:stretch>
          </a:blipFill>
        </p:spPr>
        <p:txBody>
          <a:bodyPr/>
          <a:lstStyle/>
          <a:p>
            <a:endParaRPr lang="en-US" dirty="0"/>
          </a:p>
        </p:txBody>
      </p:sp>
      <p:sp>
        <p:nvSpPr>
          <p:cNvPr id="4" name="Freeform 4"/>
          <p:cNvSpPr/>
          <p:nvPr/>
        </p:nvSpPr>
        <p:spPr>
          <a:xfrm rot="1162109">
            <a:off x="-9933303" y="4448201"/>
            <a:ext cx="15657358" cy="11677597"/>
          </a:xfrm>
          <a:custGeom>
            <a:avLst/>
            <a:gdLst/>
            <a:ahLst/>
            <a:cxnLst/>
            <a:rect l="l" t="t" r="r" b="b"/>
            <a:pathLst>
              <a:path w="15657358" h="11677597">
                <a:moveTo>
                  <a:pt x="0" y="0"/>
                </a:moveTo>
                <a:lnTo>
                  <a:pt x="15657358" y="0"/>
                </a:lnTo>
                <a:lnTo>
                  <a:pt x="15657358" y="11677597"/>
                </a:lnTo>
                <a:lnTo>
                  <a:pt x="0" y="11677597"/>
                </a:lnTo>
                <a:lnTo>
                  <a:pt x="0" y="0"/>
                </a:lnTo>
                <a:close/>
              </a:path>
            </a:pathLst>
          </a:custGeom>
          <a:blipFill>
            <a:blip r:embed="rId5"/>
            <a:stretch>
              <a:fillRect l="-94350"/>
            </a:stretch>
          </a:blipFill>
        </p:spPr>
        <p:txBody>
          <a:bodyPr/>
          <a:lstStyle/>
          <a:p>
            <a:endParaRPr lang="en-US"/>
          </a:p>
        </p:txBody>
      </p:sp>
      <p:grpSp>
        <p:nvGrpSpPr>
          <p:cNvPr id="5" name="Group 5"/>
          <p:cNvGrpSpPr/>
          <p:nvPr/>
        </p:nvGrpSpPr>
        <p:grpSpPr>
          <a:xfrm>
            <a:off x="1592888" y="7783475"/>
            <a:ext cx="2496421" cy="829168"/>
            <a:chOff x="0" y="0"/>
            <a:chExt cx="812800" cy="269966"/>
          </a:xfrm>
        </p:grpSpPr>
        <p:sp>
          <p:nvSpPr>
            <p:cNvPr id="6" name="Freeform 6"/>
            <p:cNvSpPr/>
            <p:nvPr/>
          </p:nvSpPr>
          <p:spPr>
            <a:xfrm>
              <a:off x="0" y="0"/>
              <a:ext cx="812800" cy="269966"/>
            </a:xfrm>
            <a:custGeom>
              <a:avLst/>
              <a:gdLst/>
              <a:ahLst/>
              <a:cxnLst/>
              <a:rect l="l" t="t" r="r" b="b"/>
              <a:pathLst>
                <a:path w="812800" h="269966">
                  <a:moveTo>
                    <a:pt x="134983" y="0"/>
                  </a:moveTo>
                  <a:lnTo>
                    <a:pt x="677817" y="0"/>
                  </a:lnTo>
                  <a:cubicBezTo>
                    <a:pt x="713617" y="0"/>
                    <a:pt x="747950" y="14221"/>
                    <a:pt x="773264" y="39536"/>
                  </a:cubicBezTo>
                  <a:cubicBezTo>
                    <a:pt x="798579" y="64850"/>
                    <a:pt x="812800" y="99183"/>
                    <a:pt x="812800" y="134983"/>
                  </a:cubicBezTo>
                  <a:lnTo>
                    <a:pt x="812800" y="134983"/>
                  </a:lnTo>
                  <a:cubicBezTo>
                    <a:pt x="812800" y="209532"/>
                    <a:pt x="752366" y="269966"/>
                    <a:pt x="677817" y="269966"/>
                  </a:cubicBezTo>
                  <a:lnTo>
                    <a:pt x="134983" y="269966"/>
                  </a:lnTo>
                  <a:cubicBezTo>
                    <a:pt x="99183" y="269966"/>
                    <a:pt x="64850" y="255744"/>
                    <a:pt x="39536" y="230430"/>
                  </a:cubicBezTo>
                  <a:cubicBezTo>
                    <a:pt x="14221" y="205116"/>
                    <a:pt x="0" y="170782"/>
                    <a:pt x="0" y="134983"/>
                  </a:cubicBezTo>
                  <a:lnTo>
                    <a:pt x="0" y="134983"/>
                  </a:lnTo>
                  <a:cubicBezTo>
                    <a:pt x="0" y="99183"/>
                    <a:pt x="14221" y="64850"/>
                    <a:pt x="39536" y="39536"/>
                  </a:cubicBezTo>
                  <a:cubicBezTo>
                    <a:pt x="64850" y="14221"/>
                    <a:pt x="99183" y="0"/>
                    <a:pt x="134983" y="0"/>
                  </a:cubicBezTo>
                  <a:close/>
                </a:path>
              </a:pathLst>
            </a:custGeom>
            <a:solidFill>
              <a:srgbClr val="FFD0E0"/>
            </a:solidFill>
          </p:spPr>
          <p:txBody>
            <a:bodyPr/>
            <a:lstStyle/>
            <a:p>
              <a:endParaRPr lang="en-US"/>
            </a:p>
          </p:txBody>
        </p:sp>
        <p:sp>
          <p:nvSpPr>
            <p:cNvPr id="7" name="TextBox 7"/>
            <p:cNvSpPr txBox="1"/>
            <p:nvPr/>
          </p:nvSpPr>
          <p:spPr>
            <a:xfrm>
              <a:off x="0" y="-9525"/>
              <a:ext cx="812800" cy="279491"/>
            </a:xfrm>
            <a:prstGeom prst="rect">
              <a:avLst/>
            </a:prstGeom>
          </p:spPr>
          <p:txBody>
            <a:bodyPr lIns="50800" tIns="50800" rIns="50800" bIns="50800" rtlCol="0" anchor="ctr"/>
            <a:lstStyle/>
            <a:p>
              <a:pPr algn="ctr">
                <a:lnSpc>
                  <a:spcPts val="2400"/>
                </a:lnSpc>
              </a:pPr>
              <a:endParaRPr/>
            </a:p>
          </p:txBody>
        </p:sp>
      </p:grpSp>
      <p:grpSp>
        <p:nvGrpSpPr>
          <p:cNvPr id="8" name="Group 8"/>
          <p:cNvGrpSpPr/>
          <p:nvPr/>
        </p:nvGrpSpPr>
        <p:grpSpPr>
          <a:xfrm>
            <a:off x="9103574" y="1864483"/>
            <a:ext cx="6416870" cy="6560661"/>
            <a:chOff x="0" y="0"/>
            <a:chExt cx="4732153" cy="4838192"/>
          </a:xfrm>
        </p:grpSpPr>
        <p:sp>
          <p:nvSpPr>
            <p:cNvPr id="9" name="Freeform 9">
              <a:extLst>
                <a:ext uri="{C183D7F6-B498-43B3-948B-1728B52AA6E4}">
                  <adec:decorative xmlns:adec="http://schemas.microsoft.com/office/drawing/2017/decorative" val="1"/>
                </a:ext>
              </a:extLst>
            </p:cNvPr>
            <p:cNvSpPr/>
            <p:nvPr/>
          </p:nvSpPr>
          <p:spPr>
            <a:xfrm>
              <a:off x="0" y="0"/>
              <a:ext cx="4732153" cy="4838192"/>
            </a:xfrm>
            <a:custGeom>
              <a:avLst/>
              <a:gdLst/>
              <a:ahLst/>
              <a:cxnLst/>
              <a:rect l="l" t="t" r="r" b="b"/>
              <a:pathLst>
                <a:path w="4732153" h="4838192">
                  <a:moveTo>
                    <a:pt x="4607693" y="4838192"/>
                  </a:moveTo>
                  <a:lnTo>
                    <a:pt x="124460" y="4838192"/>
                  </a:lnTo>
                  <a:cubicBezTo>
                    <a:pt x="55880" y="4838192"/>
                    <a:pt x="0" y="4782312"/>
                    <a:pt x="0" y="4713732"/>
                  </a:cubicBezTo>
                  <a:lnTo>
                    <a:pt x="0" y="124460"/>
                  </a:lnTo>
                  <a:cubicBezTo>
                    <a:pt x="0" y="55880"/>
                    <a:pt x="55880" y="0"/>
                    <a:pt x="124460" y="0"/>
                  </a:cubicBezTo>
                  <a:lnTo>
                    <a:pt x="4607693" y="0"/>
                  </a:lnTo>
                  <a:cubicBezTo>
                    <a:pt x="4676273" y="0"/>
                    <a:pt x="4732153" y="55880"/>
                    <a:pt x="4732153" y="124460"/>
                  </a:cubicBezTo>
                  <a:lnTo>
                    <a:pt x="4732153" y="4713732"/>
                  </a:lnTo>
                  <a:cubicBezTo>
                    <a:pt x="4732153" y="4782312"/>
                    <a:pt x="4676273" y="4838192"/>
                    <a:pt x="4607693" y="4838192"/>
                  </a:cubicBezTo>
                  <a:close/>
                </a:path>
              </a:pathLst>
            </a:custGeom>
            <a:solidFill>
              <a:srgbClr val="FFFFFF">
                <a:alpha val="29804"/>
              </a:srgbClr>
            </a:solidFill>
          </p:spPr>
          <p:txBody>
            <a:bodyPr/>
            <a:lstStyle/>
            <a:p>
              <a:endParaRPr lang="en-US"/>
            </a:p>
          </p:txBody>
        </p:sp>
      </p:grpSp>
      <p:sp>
        <p:nvSpPr>
          <p:cNvPr id="10" name="TextBox 10"/>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6</a:t>
            </a:r>
          </a:p>
        </p:txBody>
      </p:sp>
      <p:sp>
        <p:nvSpPr>
          <p:cNvPr id="11" name="TextBox 11"/>
          <p:cNvSpPr txBox="1"/>
          <p:nvPr/>
        </p:nvSpPr>
        <p:spPr>
          <a:xfrm>
            <a:off x="6825753" y="858550"/>
            <a:ext cx="10972511" cy="387749"/>
          </a:xfrm>
          <a:prstGeom prst="rect">
            <a:avLst/>
          </a:prstGeom>
        </p:spPr>
        <p:txBody>
          <a:bodyPr lIns="0" tIns="0" rIns="0" bIns="0" rtlCol="0" anchor="t">
            <a:spAutoFit/>
          </a:bodyPr>
          <a:lstStyle/>
          <a:p>
            <a:pPr marL="510966" lvl="1" indent="-255483" algn="l">
              <a:lnSpc>
                <a:spcPts val="3076"/>
              </a:lnSpc>
              <a:buFont typeface="Arial"/>
              <a:buChar char="•"/>
            </a:pPr>
            <a:endParaRPr/>
          </a:p>
        </p:txBody>
      </p:sp>
      <p:sp>
        <p:nvSpPr>
          <p:cNvPr id="12" name="TextBox 12"/>
          <p:cNvSpPr txBox="1"/>
          <p:nvPr/>
        </p:nvSpPr>
        <p:spPr>
          <a:xfrm>
            <a:off x="9398337" y="2493645"/>
            <a:ext cx="5827344" cy="5261610"/>
          </a:xfrm>
          <a:prstGeom prst="rect">
            <a:avLst/>
          </a:prstGeom>
        </p:spPr>
        <p:txBody>
          <a:bodyPr lIns="0" tIns="0" rIns="0" bIns="0" rtlCol="0" anchor="t">
            <a:spAutoFit/>
          </a:bodyPr>
          <a:lstStyle/>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School identification and location details</a:t>
            </a:r>
          </a:p>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Enrollment, grade, and gender information</a:t>
            </a:r>
          </a:p>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Academic performance metrics (scores, pass/fail rates)</a:t>
            </a:r>
          </a:p>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Attendance and exam participation indicators</a:t>
            </a:r>
          </a:p>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Remedial, digital access, and scholarship metrics</a:t>
            </a:r>
          </a:p>
          <a:p>
            <a:pPr marL="582930" lvl="1" indent="-291465" algn="l">
              <a:lnSpc>
                <a:spcPts val="3510"/>
              </a:lnSpc>
              <a:buFont typeface="Arial"/>
              <a:buChar char="•"/>
            </a:pPr>
            <a:r>
              <a:rPr lang="en-US" sz="2700">
                <a:solidFill>
                  <a:srgbClr val="000000"/>
                </a:solidFill>
                <a:latin typeface="TT Commons Pro"/>
                <a:ea typeface="TT Commons Pro"/>
                <a:cs typeface="TT Commons Pro"/>
                <a:sym typeface="TT Commons Pro"/>
              </a:rPr>
              <a:t>Learning growth and skill index measures</a:t>
            </a:r>
          </a:p>
        </p:txBody>
      </p:sp>
      <p:sp>
        <p:nvSpPr>
          <p:cNvPr id="13" name="TextBox 13"/>
          <p:cNvSpPr txBox="1"/>
          <p:nvPr/>
        </p:nvSpPr>
        <p:spPr>
          <a:xfrm>
            <a:off x="694924" y="420493"/>
            <a:ext cx="10051381" cy="267843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DATASET </a:t>
            </a:r>
          </a:p>
          <a:p>
            <a:pPr algn="l">
              <a:lnSpc>
                <a:spcPts val="10800"/>
              </a:lnSpc>
            </a:pPr>
            <a:r>
              <a:rPr lang="en-US" sz="7200">
                <a:solidFill>
                  <a:srgbClr val="000000"/>
                </a:solidFill>
                <a:latin typeface="TAN Mon Cheri"/>
                <a:ea typeface="TAN Mon Cheri"/>
                <a:cs typeface="TAN Mon Cheri"/>
                <a:sym typeface="TAN Mon Cheri"/>
              </a:rPr>
              <a:t>SCHEMA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glowing gradient brush stroke "/>
          <p:cNvSpPr/>
          <p:nvPr/>
        </p:nvSpPr>
        <p:spPr>
          <a:xfrm>
            <a:off x="5546377" y="151540"/>
            <a:ext cx="15350424" cy="15350424"/>
          </a:xfrm>
          <a:custGeom>
            <a:avLst/>
            <a:gdLst/>
            <a:ahLst/>
            <a:cxnLst/>
            <a:rect l="l" t="t" r="r" b="b"/>
            <a:pathLst>
              <a:path w="15350424" h="15350424">
                <a:moveTo>
                  <a:pt x="0" y="0"/>
                </a:moveTo>
                <a:lnTo>
                  <a:pt x="15350424" y="0"/>
                </a:lnTo>
                <a:lnTo>
                  <a:pt x="15350424" y="15350424"/>
                </a:lnTo>
                <a:lnTo>
                  <a:pt x="0" y="15350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a pink and yellow glowing gradient brush stroke"/>
          <p:cNvSpPr/>
          <p:nvPr/>
        </p:nvSpPr>
        <p:spPr>
          <a:xfrm rot="-184428">
            <a:off x="-26082" y="5730518"/>
            <a:ext cx="7160519" cy="4434198"/>
          </a:xfrm>
          <a:custGeom>
            <a:avLst/>
            <a:gdLst/>
            <a:ahLst/>
            <a:cxnLst/>
            <a:rect l="l" t="t" r="r" b="b"/>
            <a:pathLst>
              <a:path w="13198362" h="13198362">
                <a:moveTo>
                  <a:pt x="0" y="0"/>
                </a:moveTo>
                <a:lnTo>
                  <a:pt x="13198362" y="0"/>
                </a:lnTo>
                <a:lnTo>
                  <a:pt x="13198362" y="13198362"/>
                </a:lnTo>
                <a:lnTo>
                  <a:pt x="0" y="13198362"/>
                </a:lnTo>
                <a:lnTo>
                  <a:pt x="0" y="0"/>
                </a:lnTo>
                <a:close/>
              </a:path>
            </a:pathLst>
          </a:custGeom>
          <a:blipFill>
            <a:blip r:embed="rId4">
              <a:alphaModFix amt="64000"/>
            </a:blip>
            <a:stretch>
              <a:fillRect/>
            </a:stretch>
          </a:blipFill>
        </p:spPr>
        <p:txBody>
          <a:bodyPr/>
          <a:lstStyle/>
          <a:p>
            <a:endParaRPr lang="en-US" dirty="0"/>
          </a:p>
        </p:txBody>
      </p:sp>
      <p:sp>
        <p:nvSpPr>
          <p:cNvPr id="4" name="TextBox 4"/>
          <p:cNvSpPr txBox="1"/>
          <p:nvPr/>
        </p:nvSpPr>
        <p:spPr>
          <a:xfrm>
            <a:off x="4264207" y="1844040"/>
            <a:ext cx="12995093" cy="2632710"/>
          </a:xfrm>
          <a:prstGeom prst="rect">
            <a:avLst/>
          </a:prstGeom>
        </p:spPr>
        <p:txBody>
          <a:bodyPr lIns="0" tIns="0" rIns="0" bIns="0" rtlCol="0" anchor="t">
            <a:spAutoFit/>
          </a:bodyPr>
          <a:lstStyle/>
          <a:p>
            <a:pPr algn="l">
              <a:lnSpc>
                <a:spcPts val="3510"/>
              </a:lnSpc>
            </a:pPr>
            <a:r>
              <a:rPr lang="en-US" sz="2700">
                <a:solidFill>
                  <a:srgbClr val="000000"/>
                </a:solidFill>
                <a:latin typeface="TT Commons Pro"/>
                <a:ea typeface="TT Commons Pro"/>
                <a:cs typeface="TT Commons Pro"/>
                <a:sym typeface="TT Commons Pro"/>
              </a:rPr>
              <a:t>The project follows a Bronze–Silver–Gold data architecture. Raw data is ingested into the Bronze layer, cleaned and standardized in the Silver layer, and aggregated into analytics-ready Gold tables. PySpark is used for scalable data processing, while Delta Lake ensures reliability and performance. Workflow orchestration is handled using Apache Airflow, enabling scheduled and automated execution. The final analytics outputs are visualized using Power BI.</a:t>
            </a:r>
          </a:p>
        </p:txBody>
      </p:sp>
      <p:sp>
        <p:nvSpPr>
          <p:cNvPr id="5" name="TextBox 5"/>
          <p:cNvSpPr txBox="1"/>
          <p:nvPr/>
        </p:nvSpPr>
        <p:spPr>
          <a:xfrm>
            <a:off x="1028700" y="866775"/>
            <a:ext cx="9051364" cy="1015365"/>
          </a:xfrm>
          <a:prstGeom prst="rect">
            <a:avLst/>
          </a:prstGeom>
        </p:spPr>
        <p:txBody>
          <a:bodyPr lIns="0" tIns="0" rIns="0" bIns="0" rtlCol="0" anchor="t">
            <a:spAutoFit/>
          </a:bodyPr>
          <a:lstStyle/>
          <a:p>
            <a:pPr algn="l">
              <a:lnSpc>
                <a:spcPts val="8400"/>
              </a:lnSpc>
            </a:pPr>
            <a:r>
              <a:rPr lang="en-US" sz="5600">
                <a:solidFill>
                  <a:srgbClr val="000000"/>
                </a:solidFill>
                <a:latin typeface="TAN Mon Cheri"/>
                <a:ea typeface="TAN Mon Cheri"/>
                <a:cs typeface="TAN Mon Cheri"/>
                <a:sym typeface="TAN Mon Cheri"/>
              </a:rPr>
              <a:t>METHODOLOGY</a:t>
            </a:r>
          </a:p>
        </p:txBody>
      </p:sp>
      <p:sp>
        <p:nvSpPr>
          <p:cNvPr id="6" name="TextBox 6"/>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7</a:t>
            </a:r>
          </a:p>
        </p:txBody>
      </p:sp>
      <p:sp>
        <p:nvSpPr>
          <p:cNvPr id="7" name="TextBox 7"/>
          <p:cNvSpPr txBox="1"/>
          <p:nvPr/>
        </p:nvSpPr>
        <p:spPr>
          <a:xfrm>
            <a:off x="7596301" y="5494101"/>
            <a:ext cx="6831696" cy="4459591"/>
          </a:xfrm>
          <a:prstGeom prst="rect">
            <a:avLst/>
          </a:prstGeom>
        </p:spPr>
        <p:txBody>
          <a:bodyPr lIns="0" tIns="0" rIns="0" bIns="0" rtlCol="0" anchor="t">
            <a:spAutoFit/>
          </a:bodyPr>
          <a:lstStyle/>
          <a:p>
            <a:pPr algn="l">
              <a:lnSpc>
                <a:spcPts val="3570"/>
              </a:lnSpc>
            </a:pPr>
            <a:r>
              <a:rPr lang="en-US" sz="2550" b="1">
                <a:solidFill>
                  <a:srgbClr val="000000"/>
                </a:solidFill>
                <a:latin typeface="TT Commons Pro Bold"/>
                <a:ea typeface="TT Commons Pro Bold"/>
                <a:cs typeface="TT Commons Pro Bold"/>
                <a:sym typeface="TT Commons Pro Bold"/>
              </a:rPr>
              <a:t>Extract</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Read multiple raw CSV enrollment files</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Store as Bronze Delta tables</a:t>
            </a:r>
          </a:p>
          <a:p>
            <a:pPr algn="l">
              <a:lnSpc>
                <a:spcPts val="3570"/>
              </a:lnSpc>
            </a:pPr>
            <a:r>
              <a:rPr lang="en-US" sz="2550" b="1">
                <a:solidFill>
                  <a:srgbClr val="000000"/>
                </a:solidFill>
                <a:latin typeface="TT Commons Pro Bold"/>
                <a:ea typeface="TT Commons Pro Bold"/>
                <a:cs typeface="TT Commons Pro Bold"/>
                <a:sym typeface="TT Commons Pro Bold"/>
              </a:rPr>
              <a:t>Transform</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Data cleaning and validation</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Feature engineering</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Performance metrics calculation</a:t>
            </a:r>
          </a:p>
          <a:p>
            <a:pPr algn="l">
              <a:lnSpc>
                <a:spcPts val="3570"/>
              </a:lnSpc>
            </a:pPr>
            <a:r>
              <a:rPr lang="en-US" sz="2550" b="1">
                <a:solidFill>
                  <a:srgbClr val="000000"/>
                </a:solidFill>
                <a:latin typeface="TT Commons Pro Bold"/>
                <a:ea typeface="TT Commons Pro Bold"/>
                <a:cs typeface="TT Commons Pro Bold"/>
                <a:sym typeface="TT Commons Pro Bold"/>
              </a:rPr>
              <a:t>Load</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Store cleaned data in Silver layer</a:t>
            </a:r>
          </a:p>
          <a:p>
            <a:pPr marL="550665" lvl="1" indent="-275332" algn="l">
              <a:lnSpc>
                <a:spcPts val="3570"/>
              </a:lnSpc>
              <a:buFont typeface="Arial"/>
              <a:buChar char="•"/>
            </a:pPr>
            <a:r>
              <a:rPr lang="en-US" sz="2550">
                <a:solidFill>
                  <a:srgbClr val="000000"/>
                </a:solidFill>
                <a:latin typeface="TT Commons Pro"/>
                <a:ea typeface="TT Commons Pro"/>
                <a:cs typeface="TT Commons Pro"/>
                <a:sym typeface="TT Commons Pro"/>
              </a:rPr>
              <a:t>Analytics tables in Gold layer</a:t>
            </a:r>
          </a:p>
        </p:txBody>
      </p:sp>
      <p:sp>
        <p:nvSpPr>
          <p:cNvPr id="8" name="TextBox 8"/>
          <p:cNvSpPr txBox="1"/>
          <p:nvPr/>
        </p:nvSpPr>
        <p:spPr>
          <a:xfrm>
            <a:off x="857611" y="4526361"/>
            <a:ext cx="9051364" cy="1015365"/>
          </a:xfrm>
          <a:prstGeom prst="rect">
            <a:avLst/>
          </a:prstGeom>
        </p:spPr>
        <p:txBody>
          <a:bodyPr lIns="0" tIns="0" rIns="0" bIns="0" rtlCol="0" anchor="t">
            <a:spAutoFit/>
          </a:bodyPr>
          <a:lstStyle/>
          <a:p>
            <a:pPr algn="l">
              <a:lnSpc>
                <a:spcPts val="8400"/>
              </a:lnSpc>
            </a:pPr>
            <a:r>
              <a:rPr lang="en-US" sz="5600">
                <a:solidFill>
                  <a:srgbClr val="000000"/>
                </a:solidFill>
                <a:latin typeface="TAN Mon Cheri"/>
                <a:ea typeface="TAN Mon Cheri"/>
                <a:cs typeface="TAN Mon Cheri"/>
                <a:sym typeface="TAN Mon Cheri"/>
              </a:rPr>
              <a:t>ETL 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glowing gradient brush stroke"/>
          <p:cNvSpPr/>
          <p:nvPr/>
        </p:nvSpPr>
        <p:spPr>
          <a:xfrm>
            <a:off x="5121682" y="1246299"/>
            <a:ext cx="8553310" cy="8553310"/>
          </a:xfrm>
          <a:custGeom>
            <a:avLst/>
            <a:gdLst/>
            <a:ahLst/>
            <a:cxnLst/>
            <a:rect l="l" t="t" r="r" b="b"/>
            <a:pathLst>
              <a:path w="8553310" h="8553310">
                <a:moveTo>
                  <a:pt x="0" y="0"/>
                </a:moveTo>
                <a:lnTo>
                  <a:pt x="8553310" y="0"/>
                </a:lnTo>
                <a:lnTo>
                  <a:pt x="8553310" y="8553310"/>
                </a:lnTo>
                <a:lnTo>
                  <a:pt x="0" y="8553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244769">
            <a:off x="10387743" y="1690090"/>
            <a:ext cx="7786177" cy="6563920"/>
          </a:xfrm>
          <a:custGeom>
            <a:avLst/>
            <a:gdLst/>
            <a:ahLst/>
            <a:cxnLst/>
            <a:rect l="l" t="t" r="r" b="b"/>
            <a:pathLst>
              <a:path w="12326388" h="12824155">
                <a:moveTo>
                  <a:pt x="0" y="0"/>
                </a:moveTo>
                <a:lnTo>
                  <a:pt x="12326387" y="0"/>
                </a:lnTo>
                <a:lnTo>
                  <a:pt x="12326387" y="12824154"/>
                </a:lnTo>
                <a:lnTo>
                  <a:pt x="0" y="12824154"/>
                </a:lnTo>
                <a:lnTo>
                  <a:pt x="0" y="0"/>
                </a:lnTo>
                <a:close/>
              </a:path>
            </a:pathLst>
          </a:custGeom>
          <a:blipFill>
            <a:blip r:embed="rId4"/>
            <a:stretch>
              <a:fillRect l="-328" r="-328"/>
            </a:stretch>
          </a:blipFill>
        </p:spPr>
        <p:txBody>
          <a:bodyPr/>
          <a:lstStyle/>
          <a:p>
            <a:endParaRPr lang="en-US"/>
          </a:p>
        </p:txBody>
      </p:sp>
      <p:grpSp>
        <p:nvGrpSpPr>
          <p:cNvPr id="5" name="Group 5"/>
          <p:cNvGrpSpPr/>
          <p:nvPr/>
        </p:nvGrpSpPr>
        <p:grpSpPr>
          <a:xfrm>
            <a:off x="1592888" y="7783475"/>
            <a:ext cx="2496421" cy="829168"/>
            <a:chOff x="0" y="0"/>
            <a:chExt cx="812800" cy="269966"/>
          </a:xfrm>
        </p:grpSpPr>
        <p:sp>
          <p:nvSpPr>
            <p:cNvPr id="6" name="Freeform 6"/>
            <p:cNvSpPr/>
            <p:nvPr/>
          </p:nvSpPr>
          <p:spPr>
            <a:xfrm>
              <a:off x="0" y="0"/>
              <a:ext cx="812800" cy="269966"/>
            </a:xfrm>
            <a:custGeom>
              <a:avLst/>
              <a:gdLst/>
              <a:ahLst/>
              <a:cxnLst/>
              <a:rect l="l" t="t" r="r" b="b"/>
              <a:pathLst>
                <a:path w="812800" h="269966">
                  <a:moveTo>
                    <a:pt x="134983" y="0"/>
                  </a:moveTo>
                  <a:lnTo>
                    <a:pt x="677817" y="0"/>
                  </a:lnTo>
                  <a:cubicBezTo>
                    <a:pt x="713617" y="0"/>
                    <a:pt x="747950" y="14221"/>
                    <a:pt x="773264" y="39536"/>
                  </a:cubicBezTo>
                  <a:cubicBezTo>
                    <a:pt x="798579" y="64850"/>
                    <a:pt x="812800" y="99183"/>
                    <a:pt x="812800" y="134983"/>
                  </a:cubicBezTo>
                  <a:lnTo>
                    <a:pt x="812800" y="134983"/>
                  </a:lnTo>
                  <a:cubicBezTo>
                    <a:pt x="812800" y="209532"/>
                    <a:pt x="752366" y="269966"/>
                    <a:pt x="677817" y="269966"/>
                  </a:cubicBezTo>
                  <a:lnTo>
                    <a:pt x="134983" y="269966"/>
                  </a:lnTo>
                  <a:cubicBezTo>
                    <a:pt x="99183" y="269966"/>
                    <a:pt x="64850" y="255744"/>
                    <a:pt x="39536" y="230430"/>
                  </a:cubicBezTo>
                  <a:cubicBezTo>
                    <a:pt x="14221" y="205116"/>
                    <a:pt x="0" y="170782"/>
                    <a:pt x="0" y="134983"/>
                  </a:cubicBezTo>
                  <a:lnTo>
                    <a:pt x="0" y="134983"/>
                  </a:lnTo>
                  <a:cubicBezTo>
                    <a:pt x="0" y="99183"/>
                    <a:pt x="14221" y="64850"/>
                    <a:pt x="39536" y="39536"/>
                  </a:cubicBezTo>
                  <a:cubicBezTo>
                    <a:pt x="64850" y="14221"/>
                    <a:pt x="99183" y="0"/>
                    <a:pt x="134983" y="0"/>
                  </a:cubicBezTo>
                  <a:close/>
                </a:path>
              </a:pathLst>
            </a:custGeom>
            <a:solidFill>
              <a:srgbClr val="FFD0E0"/>
            </a:solidFill>
          </p:spPr>
          <p:txBody>
            <a:bodyPr/>
            <a:lstStyle/>
            <a:p>
              <a:endParaRPr lang="en-US"/>
            </a:p>
          </p:txBody>
        </p:sp>
        <p:sp>
          <p:nvSpPr>
            <p:cNvPr id="7" name="TextBox 7"/>
            <p:cNvSpPr txBox="1"/>
            <p:nvPr/>
          </p:nvSpPr>
          <p:spPr>
            <a:xfrm>
              <a:off x="0" y="-9525"/>
              <a:ext cx="812800" cy="279491"/>
            </a:xfrm>
            <a:prstGeom prst="rect">
              <a:avLst/>
            </a:prstGeom>
          </p:spPr>
          <p:txBody>
            <a:bodyPr lIns="50800" tIns="50800" rIns="50800" bIns="50800" rtlCol="0" anchor="ctr"/>
            <a:lstStyle/>
            <a:p>
              <a:pPr algn="ctr">
                <a:lnSpc>
                  <a:spcPts val="2400"/>
                </a:lnSpc>
              </a:pPr>
              <a:endParaRPr/>
            </a:p>
          </p:txBody>
        </p:sp>
      </p:grpSp>
      <p:grpSp>
        <p:nvGrpSpPr>
          <p:cNvPr id="8" name="Group 8"/>
          <p:cNvGrpSpPr/>
          <p:nvPr/>
        </p:nvGrpSpPr>
        <p:grpSpPr>
          <a:xfrm>
            <a:off x="11131396" y="2733675"/>
            <a:ext cx="6416870" cy="6560661"/>
            <a:chOff x="0" y="0"/>
            <a:chExt cx="4732153" cy="4838192"/>
          </a:xfrm>
        </p:grpSpPr>
        <p:sp>
          <p:nvSpPr>
            <p:cNvPr id="9" name="Freeform 9">
              <a:extLst>
                <a:ext uri="{C183D7F6-B498-43B3-948B-1728B52AA6E4}">
                  <adec:decorative xmlns:adec="http://schemas.microsoft.com/office/drawing/2017/decorative" val="1"/>
                </a:ext>
              </a:extLst>
            </p:cNvPr>
            <p:cNvSpPr/>
            <p:nvPr/>
          </p:nvSpPr>
          <p:spPr>
            <a:xfrm>
              <a:off x="0" y="0"/>
              <a:ext cx="4732153" cy="4838192"/>
            </a:xfrm>
            <a:custGeom>
              <a:avLst/>
              <a:gdLst/>
              <a:ahLst/>
              <a:cxnLst/>
              <a:rect l="l" t="t" r="r" b="b"/>
              <a:pathLst>
                <a:path w="4732153" h="4838192">
                  <a:moveTo>
                    <a:pt x="4607693" y="4838192"/>
                  </a:moveTo>
                  <a:lnTo>
                    <a:pt x="124460" y="4838192"/>
                  </a:lnTo>
                  <a:cubicBezTo>
                    <a:pt x="55880" y="4838192"/>
                    <a:pt x="0" y="4782312"/>
                    <a:pt x="0" y="4713732"/>
                  </a:cubicBezTo>
                  <a:lnTo>
                    <a:pt x="0" y="124460"/>
                  </a:lnTo>
                  <a:cubicBezTo>
                    <a:pt x="0" y="55880"/>
                    <a:pt x="55880" y="0"/>
                    <a:pt x="124460" y="0"/>
                  </a:cubicBezTo>
                  <a:lnTo>
                    <a:pt x="4607693" y="0"/>
                  </a:lnTo>
                  <a:cubicBezTo>
                    <a:pt x="4676273" y="0"/>
                    <a:pt x="4732153" y="55880"/>
                    <a:pt x="4732153" y="124460"/>
                  </a:cubicBezTo>
                  <a:lnTo>
                    <a:pt x="4732153" y="4713732"/>
                  </a:lnTo>
                  <a:cubicBezTo>
                    <a:pt x="4732153" y="4782312"/>
                    <a:pt x="4676273" y="4838192"/>
                    <a:pt x="4607693" y="4838192"/>
                  </a:cubicBezTo>
                  <a:close/>
                </a:path>
              </a:pathLst>
            </a:custGeom>
            <a:solidFill>
              <a:srgbClr val="FFFFFF">
                <a:alpha val="29804"/>
              </a:srgbClr>
            </a:solidFill>
          </p:spPr>
          <p:txBody>
            <a:bodyPr/>
            <a:lstStyle/>
            <a:p>
              <a:endParaRPr lang="en-US"/>
            </a:p>
          </p:txBody>
        </p:sp>
      </p:grpSp>
      <p:sp>
        <p:nvSpPr>
          <p:cNvPr id="10" name="Freeform 10"/>
          <p:cNvSpPr/>
          <p:nvPr/>
        </p:nvSpPr>
        <p:spPr>
          <a:xfrm>
            <a:off x="402795" y="4167170"/>
            <a:ext cx="10068284" cy="3616305"/>
          </a:xfrm>
          <a:custGeom>
            <a:avLst/>
            <a:gdLst/>
            <a:ahLst/>
            <a:cxnLst/>
            <a:rect l="l" t="t" r="r" b="b"/>
            <a:pathLst>
              <a:path w="10068284" h="3616305">
                <a:moveTo>
                  <a:pt x="0" y="0"/>
                </a:moveTo>
                <a:lnTo>
                  <a:pt x="10068285" y="0"/>
                </a:lnTo>
                <a:lnTo>
                  <a:pt x="10068285" y="3616305"/>
                </a:lnTo>
                <a:lnTo>
                  <a:pt x="0" y="3616305"/>
                </a:lnTo>
                <a:lnTo>
                  <a:pt x="0" y="0"/>
                </a:lnTo>
                <a:close/>
              </a:path>
            </a:pathLst>
          </a:custGeom>
          <a:blipFill>
            <a:blip r:embed="rId5"/>
            <a:stretch>
              <a:fillRect l="-42096" r="-42096"/>
            </a:stretch>
          </a:blipFill>
        </p:spPr>
        <p:txBody>
          <a:bodyPr/>
          <a:lstStyle/>
          <a:p>
            <a:endParaRPr lang="en-US"/>
          </a:p>
        </p:txBody>
      </p:sp>
      <p:sp>
        <p:nvSpPr>
          <p:cNvPr id="11" name="TextBox 11"/>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8</a:t>
            </a:r>
          </a:p>
        </p:txBody>
      </p:sp>
      <p:sp>
        <p:nvSpPr>
          <p:cNvPr id="12" name="TextBox 12"/>
          <p:cNvSpPr txBox="1"/>
          <p:nvPr/>
        </p:nvSpPr>
        <p:spPr>
          <a:xfrm>
            <a:off x="6825753" y="858550"/>
            <a:ext cx="10972511" cy="387749"/>
          </a:xfrm>
          <a:prstGeom prst="rect">
            <a:avLst/>
          </a:prstGeom>
        </p:spPr>
        <p:txBody>
          <a:bodyPr lIns="0" tIns="0" rIns="0" bIns="0" rtlCol="0" anchor="t">
            <a:spAutoFit/>
          </a:bodyPr>
          <a:lstStyle/>
          <a:p>
            <a:pPr marL="510966" lvl="1" indent="-255483" algn="l">
              <a:lnSpc>
                <a:spcPts val="3076"/>
              </a:lnSpc>
              <a:buFont typeface="Arial"/>
              <a:buChar char="•"/>
            </a:pPr>
            <a:endParaRPr/>
          </a:p>
        </p:txBody>
      </p:sp>
      <p:sp>
        <p:nvSpPr>
          <p:cNvPr id="13" name="TextBox 13"/>
          <p:cNvSpPr txBox="1"/>
          <p:nvPr/>
        </p:nvSpPr>
        <p:spPr>
          <a:xfrm>
            <a:off x="9398337" y="2493645"/>
            <a:ext cx="5827344" cy="441960"/>
          </a:xfrm>
          <a:prstGeom prst="rect">
            <a:avLst/>
          </a:prstGeom>
        </p:spPr>
        <p:txBody>
          <a:bodyPr lIns="0" tIns="0" rIns="0" bIns="0" rtlCol="0" anchor="t">
            <a:spAutoFit/>
          </a:bodyPr>
          <a:lstStyle/>
          <a:p>
            <a:pPr marL="582930" lvl="1" indent="-291465" algn="l">
              <a:lnSpc>
                <a:spcPts val="3510"/>
              </a:lnSpc>
              <a:buFont typeface="Arial"/>
              <a:buChar char="•"/>
            </a:pPr>
            <a:endParaRPr/>
          </a:p>
        </p:txBody>
      </p:sp>
      <p:sp>
        <p:nvSpPr>
          <p:cNvPr id="14" name="TextBox 14"/>
          <p:cNvSpPr txBox="1"/>
          <p:nvPr/>
        </p:nvSpPr>
        <p:spPr>
          <a:xfrm>
            <a:off x="694924" y="420493"/>
            <a:ext cx="10886032" cy="267843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WORKFLOW ORCHESTRATION</a:t>
            </a:r>
          </a:p>
        </p:txBody>
      </p:sp>
      <p:sp>
        <p:nvSpPr>
          <p:cNvPr id="15" name="TextBox 15"/>
          <p:cNvSpPr txBox="1"/>
          <p:nvPr/>
        </p:nvSpPr>
        <p:spPr>
          <a:xfrm>
            <a:off x="11131396" y="3474044"/>
            <a:ext cx="6421041" cy="3322321"/>
          </a:xfrm>
          <a:prstGeom prst="rect">
            <a:avLst/>
          </a:prstGeom>
        </p:spPr>
        <p:txBody>
          <a:bodyPr lIns="0" tIns="0" rIns="0" bIns="0" rtlCol="0" anchor="t">
            <a:spAutoFit/>
          </a:bodyPr>
          <a:lstStyle/>
          <a:p>
            <a:pPr algn="l">
              <a:lnSpc>
                <a:spcPts val="3779"/>
              </a:lnSpc>
            </a:pPr>
            <a:r>
              <a:rPr lang="en-US" sz="2699" dirty="0">
                <a:solidFill>
                  <a:srgbClr val="000000"/>
                </a:solidFill>
                <a:latin typeface="TT Commons Pro"/>
                <a:ea typeface="TT Commons Pro"/>
                <a:cs typeface="TT Commons Pro"/>
                <a:sym typeface="TT Commons Pro"/>
              </a:rPr>
              <a:t>Apache Airflow used for pipeline automation</a:t>
            </a:r>
          </a:p>
          <a:p>
            <a:pPr algn="l">
              <a:lnSpc>
                <a:spcPts val="3779"/>
              </a:lnSpc>
            </a:pPr>
            <a:r>
              <a:rPr lang="en-US" sz="2699" dirty="0">
                <a:solidFill>
                  <a:srgbClr val="000000"/>
                </a:solidFill>
                <a:latin typeface="TT Commons Pro"/>
                <a:ea typeface="TT Commons Pro"/>
                <a:cs typeface="TT Commons Pro"/>
                <a:sym typeface="TT Commons Pro"/>
              </a:rPr>
              <a:t>Weekly scheduled execution</a:t>
            </a:r>
          </a:p>
          <a:p>
            <a:pPr algn="l">
              <a:lnSpc>
                <a:spcPts val="3779"/>
              </a:lnSpc>
            </a:pPr>
            <a:r>
              <a:rPr lang="en-US" sz="2699" dirty="0">
                <a:solidFill>
                  <a:srgbClr val="000000"/>
                </a:solidFill>
                <a:latin typeface="TT Commons Pro"/>
                <a:ea typeface="TT Commons Pro"/>
                <a:cs typeface="TT Commons Pro"/>
                <a:sym typeface="TT Commons Pro"/>
              </a:rPr>
              <a:t>Sequential tasks:</a:t>
            </a:r>
          </a:p>
          <a:p>
            <a:pPr marL="582925" lvl="1" indent="-291463" algn="l">
              <a:lnSpc>
                <a:spcPts val="3779"/>
              </a:lnSpc>
              <a:buFont typeface="Arial"/>
              <a:buChar char="•"/>
            </a:pPr>
            <a:r>
              <a:rPr lang="en-US" sz="2699" dirty="0">
                <a:solidFill>
                  <a:srgbClr val="000000"/>
                </a:solidFill>
                <a:latin typeface="TT Commons Pro"/>
                <a:ea typeface="TT Commons Pro"/>
                <a:cs typeface="TT Commons Pro"/>
                <a:sym typeface="TT Commons Pro"/>
              </a:rPr>
              <a:t>Data Ingestion</a:t>
            </a:r>
          </a:p>
          <a:p>
            <a:pPr marL="582925" lvl="1" indent="-291463" algn="l">
              <a:lnSpc>
                <a:spcPts val="3779"/>
              </a:lnSpc>
              <a:buFont typeface="Arial"/>
              <a:buChar char="•"/>
            </a:pPr>
            <a:r>
              <a:rPr lang="en-US" sz="2699" dirty="0">
                <a:solidFill>
                  <a:srgbClr val="000000"/>
                </a:solidFill>
                <a:latin typeface="TT Commons Pro"/>
                <a:ea typeface="TT Commons Pro"/>
                <a:cs typeface="TT Commons Pro"/>
                <a:sym typeface="TT Commons Pro"/>
              </a:rPr>
              <a:t>Data Cleaning &amp; Transformation</a:t>
            </a:r>
          </a:p>
          <a:p>
            <a:pPr marL="582925" lvl="1" indent="-291463" algn="l">
              <a:lnSpc>
                <a:spcPts val="3779"/>
              </a:lnSpc>
              <a:buFont typeface="Arial"/>
              <a:buChar char="•"/>
            </a:pPr>
            <a:r>
              <a:rPr lang="en-US" sz="2699" dirty="0">
                <a:solidFill>
                  <a:srgbClr val="000000"/>
                </a:solidFill>
                <a:latin typeface="TT Commons Pro"/>
                <a:ea typeface="TT Commons Pro"/>
                <a:cs typeface="TT Commons Pro"/>
                <a:sym typeface="TT Commons Pro"/>
              </a:rPr>
              <a:t>Analytics &amp; Gold Table Creation</a:t>
            </a:r>
          </a:p>
          <a:p>
            <a:pPr marL="582925" lvl="1" indent="-291463" algn="l">
              <a:lnSpc>
                <a:spcPts val="3779"/>
              </a:lnSpc>
              <a:buFont typeface="Arial"/>
              <a:buChar char="•"/>
            </a:pPr>
            <a:r>
              <a:rPr lang="en-US" sz="2699" dirty="0">
                <a:solidFill>
                  <a:srgbClr val="000000"/>
                </a:solidFill>
                <a:latin typeface="TT Commons Pro"/>
                <a:ea typeface="TT Commons Pro"/>
                <a:cs typeface="TT Commons Pro"/>
                <a:sym typeface="TT Commons Pro"/>
              </a:rPr>
              <a:t>Power BI Refresh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D0E0">
                <a:alpha val="100000"/>
              </a:srgbClr>
            </a:gs>
            <a:gs pos="50000">
              <a:srgbClr val="C6A4BF">
                <a:alpha val="55000"/>
              </a:srgbClr>
            </a:gs>
            <a:gs pos="100000">
              <a:srgbClr val="EAA86B">
                <a:alpha val="55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8116221" cy="8407431"/>
            <a:chOff x="0" y="0"/>
            <a:chExt cx="4021449" cy="4165739"/>
          </a:xfrm>
        </p:grpSpPr>
        <p:sp>
          <p:nvSpPr>
            <p:cNvPr id="3" name="Freeform 3">
              <a:extLst>
                <a:ext uri="{C183D7F6-B498-43B3-948B-1728B52AA6E4}">
                  <adec:decorative xmlns:adec="http://schemas.microsoft.com/office/drawing/2017/decorative" val="1"/>
                </a:ext>
              </a:extLst>
            </p:cNvPr>
            <p:cNvSpPr/>
            <p:nvPr/>
          </p:nvSpPr>
          <p:spPr>
            <a:xfrm>
              <a:off x="0" y="0"/>
              <a:ext cx="4021449" cy="4165739"/>
            </a:xfrm>
            <a:custGeom>
              <a:avLst/>
              <a:gdLst/>
              <a:ahLst/>
              <a:cxnLst/>
              <a:rect l="l" t="t" r="r" b="b"/>
              <a:pathLst>
                <a:path w="4021449" h="4165739">
                  <a:moveTo>
                    <a:pt x="3896989" y="4165739"/>
                  </a:moveTo>
                  <a:lnTo>
                    <a:pt x="124460" y="4165739"/>
                  </a:lnTo>
                  <a:cubicBezTo>
                    <a:pt x="55880" y="4165739"/>
                    <a:pt x="0" y="4109859"/>
                    <a:pt x="0" y="4041279"/>
                  </a:cubicBezTo>
                  <a:lnTo>
                    <a:pt x="0" y="124460"/>
                  </a:lnTo>
                  <a:cubicBezTo>
                    <a:pt x="0" y="55880"/>
                    <a:pt x="55880" y="0"/>
                    <a:pt x="124460" y="0"/>
                  </a:cubicBezTo>
                  <a:lnTo>
                    <a:pt x="3896989" y="0"/>
                  </a:lnTo>
                  <a:cubicBezTo>
                    <a:pt x="3965569" y="0"/>
                    <a:pt x="4021449" y="55880"/>
                    <a:pt x="4021449" y="124460"/>
                  </a:cubicBezTo>
                  <a:lnTo>
                    <a:pt x="4021449" y="4041279"/>
                  </a:lnTo>
                  <a:cubicBezTo>
                    <a:pt x="4021449" y="4109859"/>
                    <a:pt x="3965569" y="4165739"/>
                    <a:pt x="3896989" y="4165739"/>
                  </a:cubicBezTo>
                  <a:close/>
                </a:path>
              </a:pathLst>
            </a:custGeom>
            <a:solidFill>
              <a:srgbClr val="FFFFFF">
                <a:alpha val="40000"/>
              </a:srgbClr>
            </a:solidFill>
          </p:spPr>
          <p:txBody>
            <a:bodyPr/>
            <a:lstStyle/>
            <a:p>
              <a:endParaRPr lang="en-US"/>
            </a:p>
          </p:txBody>
        </p:sp>
      </p:grpSp>
      <p:sp>
        <p:nvSpPr>
          <p:cNvPr id="4" name="Freeform 4"/>
          <p:cNvSpPr/>
          <p:nvPr/>
        </p:nvSpPr>
        <p:spPr>
          <a:xfrm>
            <a:off x="10039772" y="4533852"/>
            <a:ext cx="7219528" cy="4079033"/>
          </a:xfrm>
          <a:custGeom>
            <a:avLst/>
            <a:gdLst/>
            <a:ahLst/>
            <a:cxnLst/>
            <a:rect l="l" t="t" r="r" b="b"/>
            <a:pathLst>
              <a:path w="7219528" h="4079033">
                <a:moveTo>
                  <a:pt x="0" y="0"/>
                </a:moveTo>
                <a:lnTo>
                  <a:pt x="7219528" y="0"/>
                </a:lnTo>
                <a:lnTo>
                  <a:pt x="7219528" y="4079033"/>
                </a:lnTo>
                <a:lnTo>
                  <a:pt x="0" y="4079033"/>
                </a:lnTo>
                <a:lnTo>
                  <a:pt x="0" y="0"/>
                </a:lnTo>
                <a:close/>
              </a:path>
            </a:pathLst>
          </a:custGeom>
          <a:blipFill>
            <a:blip r:embed="rId2"/>
            <a:stretch>
              <a:fillRect/>
            </a:stretch>
          </a:blipFill>
        </p:spPr>
        <p:txBody>
          <a:bodyPr/>
          <a:lstStyle/>
          <a:p>
            <a:endParaRPr lang="en-US"/>
          </a:p>
        </p:txBody>
      </p:sp>
      <p:grpSp>
        <p:nvGrpSpPr>
          <p:cNvPr id="5" name="Group 5"/>
          <p:cNvGrpSpPr/>
          <p:nvPr/>
        </p:nvGrpSpPr>
        <p:grpSpPr>
          <a:xfrm>
            <a:off x="10127340" y="2231081"/>
            <a:ext cx="7608168" cy="1583447"/>
            <a:chOff x="0" y="0"/>
            <a:chExt cx="10144225" cy="2111263"/>
          </a:xfrm>
        </p:grpSpPr>
        <p:sp>
          <p:nvSpPr>
            <p:cNvPr id="6" name="TextBox 6"/>
            <p:cNvSpPr txBox="1"/>
            <p:nvPr/>
          </p:nvSpPr>
          <p:spPr>
            <a:xfrm>
              <a:off x="0" y="1463563"/>
              <a:ext cx="9574715" cy="647700"/>
            </a:xfrm>
            <a:prstGeom prst="rect">
              <a:avLst/>
            </a:prstGeom>
          </p:spPr>
          <p:txBody>
            <a:bodyPr lIns="0" tIns="0" rIns="0" bIns="0" rtlCol="0" anchor="t">
              <a:spAutoFit/>
            </a:bodyPr>
            <a:lstStyle/>
            <a:p>
              <a:pPr algn="l">
                <a:lnSpc>
                  <a:spcPts val="3900"/>
                </a:lnSpc>
              </a:pPr>
              <a:endParaRPr/>
            </a:p>
          </p:txBody>
        </p:sp>
        <p:sp>
          <p:nvSpPr>
            <p:cNvPr id="7" name="TextBox 7"/>
            <p:cNvSpPr txBox="1"/>
            <p:nvPr/>
          </p:nvSpPr>
          <p:spPr>
            <a:xfrm>
              <a:off x="0" y="-161925"/>
              <a:ext cx="10144225" cy="1299845"/>
            </a:xfrm>
            <a:prstGeom prst="rect">
              <a:avLst/>
            </a:prstGeom>
          </p:spPr>
          <p:txBody>
            <a:bodyPr lIns="0" tIns="0" rIns="0" bIns="0" rtlCol="0" anchor="t">
              <a:spAutoFit/>
            </a:bodyPr>
            <a:lstStyle/>
            <a:p>
              <a:pPr algn="l">
                <a:lnSpc>
                  <a:spcPts val="8400"/>
                </a:lnSpc>
              </a:pPr>
              <a:r>
                <a:rPr lang="en-US" sz="5600">
                  <a:solidFill>
                    <a:srgbClr val="000000"/>
                  </a:solidFill>
                  <a:latin typeface="TAN Mon Cheri"/>
                  <a:ea typeface="TAN Mon Cheri"/>
                  <a:cs typeface="TAN Mon Cheri"/>
                  <a:sym typeface="TAN Mon Cheri"/>
                </a:rPr>
                <a:t>ANALYTICS</a:t>
              </a:r>
            </a:p>
          </p:txBody>
        </p:sp>
      </p:grpSp>
      <p:sp>
        <p:nvSpPr>
          <p:cNvPr id="8" name="TextBox 8"/>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9</a:t>
            </a:r>
          </a:p>
        </p:txBody>
      </p:sp>
      <p:sp>
        <p:nvSpPr>
          <p:cNvPr id="9" name="TextBox 9"/>
          <p:cNvSpPr txBox="1"/>
          <p:nvPr/>
        </p:nvSpPr>
        <p:spPr>
          <a:xfrm>
            <a:off x="1635637" y="1585446"/>
            <a:ext cx="5470301" cy="6669405"/>
          </a:xfrm>
          <a:prstGeom prst="rect">
            <a:avLst/>
          </a:prstGeom>
        </p:spPr>
        <p:txBody>
          <a:bodyPr lIns="0" tIns="0" rIns="0" bIns="0" rtlCol="0" anchor="t">
            <a:spAutoFit/>
          </a:bodyPr>
          <a:lstStyle/>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YEAR-WISE ENROLLMENT TRENDS</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GENDER-WISE AND GRADE-WISE ENROLLMENT DISTRIBUTION</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DISTRICT AND SCHOOL-LEVEL PERFORMANCE COMPARISON</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ATTENDANCE VS ACADEMIC PERFORMANCE ANALYSIS</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LEARNING GROWTH AND SKILL INDEX EVALUATION</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ENROLLMENT ANALYSIS</a:t>
            </a:r>
          </a:p>
          <a:p>
            <a:pPr marL="582930" lvl="1" indent="-291465" algn="l">
              <a:lnSpc>
                <a:spcPts val="4050"/>
              </a:lnSpc>
              <a:buFont typeface="Arial"/>
              <a:buChar char="•"/>
            </a:pPr>
            <a:r>
              <a:rPr lang="en-US" sz="2700">
                <a:solidFill>
                  <a:srgbClr val="000000"/>
                </a:solidFill>
                <a:latin typeface="TT Commons Pro"/>
                <a:ea typeface="TT Commons Pro"/>
                <a:cs typeface="TT Commons Pro"/>
                <a:sym typeface="TT Commons Pro"/>
              </a:rPr>
              <a:t>DROPOUT ANALYSIS</a:t>
            </a:r>
          </a:p>
        </p:txBody>
      </p:sp>
      <p:sp>
        <p:nvSpPr>
          <p:cNvPr id="10" name="TextBox 10"/>
          <p:cNvSpPr txBox="1"/>
          <p:nvPr/>
        </p:nvSpPr>
        <p:spPr>
          <a:xfrm>
            <a:off x="10127340" y="3124919"/>
            <a:ext cx="5976047" cy="689610"/>
          </a:xfrm>
          <a:prstGeom prst="rect">
            <a:avLst/>
          </a:prstGeom>
        </p:spPr>
        <p:txBody>
          <a:bodyPr lIns="0" tIns="0" rIns="0" bIns="0" rtlCol="0" anchor="t">
            <a:spAutoFit/>
          </a:bodyPr>
          <a:lstStyle/>
          <a:p>
            <a:pPr algn="l">
              <a:lnSpc>
                <a:spcPts val="2849"/>
              </a:lnSpc>
              <a:spcBef>
                <a:spcPct val="0"/>
              </a:spcBef>
            </a:pPr>
            <a:r>
              <a:rPr lang="en-US" sz="1899">
                <a:solidFill>
                  <a:srgbClr val="000000"/>
                </a:solidFill>
                <a:latin typeface="TT Commons Pro"/>
                <a:ea typeface="TT Commons Pro"/>
                <a:cs typeface="TT Commons Pro"/>
                <a:sym typeface="TT Commons Pro"/>
              </a:rPr>
              <a:t>DATA PROCESSING INTO SCALABLE, DATA-DRIVEN SYSTEMS FOR INFORMED DECISION-MAKING.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glowing gradient brush stroke"/>
          <p:cNvSpPr/>
          <p:nvPr/>
        </p:nvSpPr>
        <p:spPr>
          <a:xfrm rot="1509195">
            <a:off x="-5813943" y="-2972466"/>
            <a:ext cx="11627886" cy="13925612"/>
          </a:xfrm>
          <a:custGeom>
            <a:avLst/>
            <a:gdLst/>
            <a:ahLst/>
            <a:cxnLst/>
            <a:rect l="l" t="t" r="r" b="b"/>
            <a:pathLst>
              <a:path w="11627886" h="13925612">
                <a:moveTo>
                  <a:pt x="0" y="0"/>
                </a:moveTo>
                <a:lnTo>
                  <a:pt x="11627886" y="0"/>
                </a:lnTo>
                <a:lnTo>
                  <a:pt x="11627886" y="13925612"/>
                </a:lnTo>
                <a:lnTo>
                  <a:pt x="0" y="13925612"/>
                </a:lnTo>
                <a:lnTo>
                  <a:pt x="0" y="0"/>
                </a:lnTo>
                <a:close/>
              </a:path>
            </a:pathLst>
          </a:custGeom>
          <a:blipFill>
            <a:blip r:embed="rId2"/>
            <a:stretch>
              <a:fillRect/>
            </a:stretch>
          </a:blipFill>
        </p:spPr>
        <p:txBody>
          <a:bodyPr/>
          <a:lstStyle/>
          <a:p>
            <a:endParaRPr lang="en-US"/>
          </a:p>
        </p:txBody>
      </p:sp>
      <p:sp>
        <p:nvSpPr>
          <p:cNvPr id="3" name="Freeform 3" descr="a glowing gradient brush stroke "/>
          <p:cNvSpPr/>
          <p:nvPr/>
        </p:nvSpPr>
        <p:spPr>
          <a:xfrm>
            <a:off x="10395014" y="1208919"/>
            <a:ext cx="15350424" cy="15350424"/>
          </a:xfrm>
          <a:custGeom>
            <a:avLst/>
            <a:gdLst/>
            <a:ahLst/>
            <a:cxnLst/>
            <a:rect l="l" t="t" r="r" b="b"/>
            <a:pathLst>
              <a:path w="15350424" h="15350424">
                <a:moveTo>
                  <a:pt x="0" y="0"/>
                </a:moveTo>
                <a:lnTo>
                  <a:pt x="15350424" y="0"/>
                </a:lnTo>
                <a:lnTo>
                  <a:pt x="15350424" y="15350424"/>
                </a:lnTo>
                <a:lnTo>
                  <a:pt x="0" y="153504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452168" y="402519"/>
            <a:ext cx="8354152" cy="4740981"/>
          </a:xfrm>
          <a:custGeom>
            <a:avLst/>
            <a:gdLst/>
            <a:ahLst/>
            <a:cxnLst/>
            <a:rect l="l" t="t" r="r" b="b"/>
            <a:pathLst>
              <a:path w="8354152" h="4740981">
                <a:moveTo>
                  <a:pt x="0" y="0"/>
                </a:moveTo>
                <a:lnTo>
                  <a:pt x="8354152" y="0"/>
                </a:lnTo>
                <a:lnTo>
                  <a:pt x="8354152" y="4740981"/>
                </a:lnTo>
                <a:lnTo>
                  <a:pt x="0" y="4740981"/>
                </a:lnTo>
                <a:lnTo>
                  <a:pt x="0" y="0"/>
                </a:lnTo>
                <a:close/>
              </a:path>
            </a:pathLst>
          </a:custGeom>
          <a:blipFill>
            <a:blip r:embed="rId5"/>
            <a:stretch>
              <a:fillRect/>
            </a:stretch>
          </a:blipFill>
        </p:spPr>
        <p:txBody>
          <a:bodyPr/>
          <a:lstStyle/>
          <a:p>
            <a:endParaRPr lang="en-US"/>
          </a:p>
        </p:txBody>
      </p:sp>
      <p:sp>
        <p:nvSpPr>
          <p:cNvPr id="5" name="Freeform 5"/>
          <p:cNvSpPr/>
          <p:nvPr/>
        </p:nvSpPr>
        <p:spPr>
          <a:xfrm>
            <a:off x="506396" y="5506139"/>
            <a:ext cx="7715712" cy="4330444"/>
          </a:xfrm>
          <a:custGeom>
            <a:avLst/>
            <a:gdLst/>
            <a:ahLst/>
            <a:cxnLst/>
            <a:rect l="l" t="t" r="r" b="b"/>
            <a:pathLst>
              <a:path w="7715712" h="4330444">
                <a:moveTo>
                  <a:pt x="0" y="0"/>
                </a:moveTo>
                <a:lnTo>
                  <a:pt x="7715712" y="0"/>
                </a:lnTo>
                <a:lnTo>
                  <a:pt x="7715712" y="4330444"/>
                </a:lnTo>
                <a:lnTo>
                  <a:pt x="0" y="4330444"/>
                </a:lnTo>
                <a:lnTo>
                  <a:pt x="0" y="0"/>
                </a:lnTo>
                <a:close/>
              </a:path>
            </a:pathLst>
          </a:custGeom>
          <a:blipFill>
            <a:blip r:embed="rId6"/>
            <a:stretch>
              <a:fillRect/>
            </a:stretch>
          </a:blipFill>
        </p:spPr>
        <p:txBody>
          <a:bodyPr/>
          <a:lstStyle/>
          <a:p>
            <a:endParaRPr lang="en-US"/>
          </a:p>
        </p:txBody>
      </p:sp>
      <p:sp>
        <p:nvSpPr>
          <p:cNvPr id="6" name="Freeform 6"/>
          <p:cNvSpPr/>
          <p:nvPr/>
        </p:nvSpPr>
        <p:spPr>
          <a:xfrm>
            <a:off x="9301365" y="4876486"/>
            <a:ext cx="8434144" cy="4691492"/>
          </a:xfrm>
          <a:custGeom>
            <a:avLst/>
            <a:gdLst/>
            <a:ahLst/>
            <a:cxnLst/>
            <a:rect l="l" t="t" r="r" b="b"/>
            <a:pathLst>
              <a:path w="8434144" h="4691492">
                <a:moveTo>
                  <a:pt x="0" y="0"/>
                </a:moveTo>
                <a:lnTo>
                  <a:pt x="8434144" y="0"/>
                </a:lnTo>
                <a:lnTo>
                  <a:pt x="8434144" y="4691492"/>
                </a:lnTo>
                <a:lnTo>
                  <a:pt x="0" y="4691492"/>
                </a:lnTo>
                <a:lnTo>
                  <a:pt x="0" y="0"/>
                </a:lnTo>
                <a:close/>
              </a:path>
            </a:pathLst>
          </a:custGeom>
          <a:blipFill>
            <a:blip r:embed="rId7"/>
            <a:stretch>
              <a:fillRect/>
            </a:stretch>
          </a:blipFill>
        </p:spPr>
        <p:txBody>
          <a:bodyPr/>
          <a:lstStyle/>
          <a:p>
            <a:endParaRPr lang="en-US"/>
          </a:p>
        </p:txBody>
      </p:sp>
      <p:grpSp>
        <p:nvGrpSpPr>
          <p:cNvPr id="7" name="Group 7"/>
          <p:cNvGrpSpPr/>
          <p:nvPr/>
        </p:nvGrpSpPr>
        <p:grpSpPr>
          <a:xfrm>
            <a:off x="10395014" y="1055578"/>
            <a:ext cx="6687771" cy="3209055"/>
            <a:chOff x="0" y="0"/>
            <a:chExt cx="8917028" cy="4278740"/>
          </a:xfrm>
        </p:grpSpPr>
        <p:sp>
          <p:nvSpPr>
            <p:cNvPr id="8" name="TextBox 8"/>
            <p:cNvSpPr txBox="1"/>
            <p:nvPr/>
          </p:nvSpPr>
          <p:spPr>
            <a:xfrm>
              <a:off x="0" y="3760580"/>
              <a:ext cx="8917028" cy="518160"/>
            </a:xfrm>
            <a:prstGeom prst="rect">
              <a:avLst/>
            </a:prstGeom>
          </p:spPr>
          <p:txBody>
            <a:bodyPr lIns="0" tIns="0" rIns="0" bIns="0" rtlCol="0" anchor="t">
              <a:spAutoFit/>
            </a:bodyPr>
            <a:lstStyle/>
            <a:p>
              <a:pPr algn="l">
                <a:lnSpc>
                  <a:spcPts val="3120"/>
                </a:lnSpc>
              </a:pPr>
              <a:endParaRPr/>
            </a:p>
          </p:txBody>
        </p:sp>
        <p:sp>
          <p:nvSpPr>
            <p:cNvPr id="9" name="TextBox 9"/>
            <p:cNvSpPr txBox="1"/>
            <p:nvPr/>
          </p:nvSpPr>
          <p:spPr>
            <a:xfrm>
              <a:off x="0" y="-38100"/>
              <a:ext cx="8917028" cy="3289300"/>
            </a:xfrm>
            <a:prstGeom prst="rect">
              <a:avLst/>
            </a:prstGeom>
          </p:spPr>
          <p:txBody>
            <a:bodyPr lIns="0" tIns="0" rIns="0" bIns="0" rtlCol="0" anchor="t">
              <a:spAutoFit/>
            </a:bodyPr>
            <a:lstStyle/>
            <a:p>
              <a:pPr algn="l">
                <a:lnSpc>
                  <a:spcPts val="3900"/>
                </a:lnSpc>
              </a:pPr>
              <a:r>
                <a:rPr lang="en-US" sz="3000">
                  <a:solidFill>
                    <a:srgbClr val="000000"/>
                  </a:solidFill>
                  <a:latin typeface="TT Commons Pro"/>
                  <a:ea typeface="TT Commons Pro"/>
                  <a:cs typeface="TT Commons Pro"/>
                  <a:sym typeface="TT Commons Pro"/>
                </a:rPr>
                <a:t>Highlighting how modern data pipelines and analytics technologies are transforming traditional education reporting into automated, insight-driven decision systems</a:t>
              </a:r>
            </a:p>
          </p:txBody>
        </p:sp>
      </p:grpSp>
      <p:sp>
        <p:nvSpPr>
          <p:cNvPr id="10" name="TextBox 10"/>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Freeform 2" descr="a rounded gradient shape"/>
          <p:cNvSpPr/>
          <p:nvPr/>
        </p:nvSpPr>
        <p:spPr>
          <a:xfrm>
            <a:off x="7850276" y="-6818635"/>
            <a:ext cx="15350424" cy="15350424"/>
          </a:xfrm>
          <a:custGeom>
            <a:avLst/>
            <a:gdLst/>
            <a:ahLst/>
            <a:cxnLst/>
            <a:rect l="l" t="t" r="r" b="b"/>
            <a:pathLst>
              <a:path w="15350424" h="15350424">
                <a:moveTo>
                  <a:pt x="0" y="0"/>
                </a:moveTo>
                <a:lnTo>
                  <a:pt x="15350424" y="0"/>
                </a:lnTo>
                <a:lnTo>
                  <a:pt x="15350424" y="15350424"/>
                </a:lnTo>
                <a:lnTo>
                  <a:pt x="0" y="153504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a:off x="0" y="-9798"/>
            <a:ext cx="4371451" cy="10296797"/>
          </a:xfrm>
          <a:custGeom>
            <a:avLst/>
            <a:gdLst/>
            <a:ahLst/>
            <a:cxnLst/>
            <a:rect l="l" t="t" r="r" b="b"/>
            <a:pathLst>
              <a:path w="18963665" h="18299937">
                <a:moveTo>
                  <a:pt x="0" y="0"/>
                </a:moveTo>
                <a:lnTo>
                  <a:pt x="18963665" y="0"/>
                </a:lnTo>
                <a:lnTo>
                  <a:pt x="18963665" y="18299936"/>
                </a:lnTo>
                <a:lnTo>
                  <a:pt x="0" y="18299936"/>
                </a:lnTo>
                <a:lnTo>
                  <a:pt x="0" y="0"/>
                </a:lnTo>
                <a:close/>
              </a:path>
            </a:pathLst>
          </a:custGeom>
          <a:blipFill>
            <a:blip r:embed="rId4">
              <a:alphaModFix amt="80000"/>
            </a:blip>
            <a:stretch>
              <a:fillRect/>
            </a:stretch>
          </a:blipFill>
        </p:spPr>
        <p:txBody>
          <a:bodyPr/>
          <a:lstStyle/>
          <a:p>
            <a:endParaRPr lang="en-US"/>
          </a:p>
        </p:txBody>
      </p:sp>
      <p:sp>
        <p:nvSpPr>
          <p:cNvPr id="4" name="TextBox 4"/>
          <p:cNvSpPr txBox="1"/>
          <p:nvPr/>
        </p:nvSpPr>
        <p:spPr>
          <a:xfrm>
            <a:off x="4800600" y="4408489"/>
            <a:ext cx="11411242" cy="2466975"/>
          </a:xfrm>
          <a:prstGeom prst="rect">
            <a:avLst/>
          </a:prstGeom>
        </p:spPr>
        <p:txBody>
          <a:bodyPr wrap="square" lIns="0" tIns="0" rIns="0" bIns="0" rtlCol="0" anchor="t">
            <a:spAutoFit/>
          </a:bodyPr>
          <a:lstStyle/>
          <a:p>
            <a:pPr marL="0" lvl="0" indent="0" algn="just">
              <a:lnSpc>
                <a:spcPts val="3240"/>
              </a:lnSpc>
              <a:spcBef>
                <a:spcPct val="0"/>
              </a:spcBef>
            </a:pPr>
            <a:r>
              <a:rPr lang="en-US" sz="2700" dirty="0">
                <a:solidFill>
                  <a:srgbClr val="000000"/>
                </a:solidFill>
                <a:latin typeface="TT Commons Pro"/>
                <a:ea typeface="TT Commons Pro"/>
                <a:cs typeface="TT Commons Pro"/>
                <a:sym typeface="TT Commons Pro"/>
              </a:rPr>
              <a:t>The project successfully demonstrates how modern data engineering and analytics technologies can transform traditional education data processing into an automated, scalable, and insight-driven platform. By integrating cloud-based processing, workflow orchestration, and interactive visualization, the solution provides meaningful insights that support informed decision-making in the education domain</a:t>
            </a:r>
          </a:p>
        </p:txBody>
      </p:sp>
      <p:sp>
        <p:nvSpPr>
          <p:cNvPr id="5" name="TextBox 5"/>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11</a:t>
            </a:r>
          </a:p>
        </p:txBody>
      </p:sp>
      <p:sp>
        <p:nvSpPr>
          <p:cNvPr id="6" name="TextBox 6"/>
          <p:cNvSpPr txBox="1"/>
          <p:nvPr/>
        </p:nvSpPr>
        <p:spPr>
          <a:xfrm>
            <a:off x="847324" y="1258693"/>
            <a:ext cx="10051381" cy="1306830"/>
          </a:xfrm>
          <a:prstGeom prst="rect">
            <a:avLst/>
          </a:prstGeom>
        </p:spPr>
        <p:txBody>
          <a:bodyPr lIns="0" tIns="0" rIns="0" bIns="0" rtlCol="0" anchor="t">
            <a:spAutoFit/>
          </a:bodyPr>
          <a:lstStyle/>
          <a:p>
            <a:pPr algn="l">
              <a:lnSpc>
                <a:spcPts val="10800"/>
              </a:lnSpc>
            </a:pPr>
            <a:r>
              <a:rPr lang="en-US" sz="7200">
                <a:solidFill>
                  <a:srgbClr val="000000"/>
                </a:solidFill>
                <a:latin typeface="TAN Mon Cheri"/>
                <a:ea typeface="TAN Mon Cheri"/>
                <a:cs typeface="TAN Mon Cheri"/>
                <a:sym typeface="TAN Mon Cheri"/>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D0E0">
                <a:alpha val="100000"/>
              </a:srgbClr>
            </a:gs>
            <a:gs pos="50000">
              <a:srgbClr val="C6A4BF">
                <a:alpha val="55000"/>
              </a:srgbClr>
            </a:gs>
            <a:gs pos="100000">
              <a:srgbClr val="EAA86B">
                <a:alpha val="55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886073" y="4207844"/>
            <a:ext cx="12515853" cy="1306830"/>
          </a:xfrm>
          <a:prstGeom prst="rect">
            <a:avLst/>
          </a:prstGeom>
        </p:spPr>
        <p:txBody>
          <a:bodyPr lIns="0" tIns="0" rIns="0" bIns="0" rtlCol="0" anchor="t">
            <a:spAutoFit/>
          </a:bodyPr>
          <a:lstStyle/>
          <a:p>
            <a:pPr algn="ctr">
              <a:lnSpc>
                <a:spcPts val="10800"/>
              </a:lnSpc>
            </a:pPr>
            <a:r>
              <a:rPr lang="en-US" sz="7200">
                <a:solidFill>
                  <a:srgbClr val="000000"/>
                </a:solidFill>
                <a:latin typeface="TAN Mon Cheri"/>
                <a:ea typeface="TAN Mon Cheri"/>
                <a:cs typeface="TAN Mon Cheri"/>
                <a:sym typeface="TAN Mon Cheri"/>
              </a:rPr>
              <a:t>THANK YOU </a:t>
            </a:r>
          </a:p>
        </p:txBody>
      </p:sp>
      <p:sp>
        <p:nvSpPr>
          <p:cNvPr id="3" name="TextBox 3"/>
          <p:cNvSpPr txBox="1"/>
          <p:nvPr/>
        </p:nvSpPr>
        <p:spPr>
          <a:xfrm>
            <a:off x="17735509" y="9529878"/>
            <a:ext cx="152400" cy="190500"/>
          </a:xfrm>
          <a:prstGeom prst="rect">
            <a:avLst/>
          </a:prstGeom>
        </p:spPr>
        <p:txBody>
          <a:bodyPr wrap="none" lIns="0" tIns="0" rIns="0" bIns="0" rtlCol="0" anchor="t">
            <a:spAutoFit/>
          </a:bodyPr>
          <a:lstStyle/>
          <a:p>
            <a:pPr algn="r">
              <a:lnSpc>
                <a:spcPts val="2520"/>
              </a:lnSpc>
              <a:spcBef>
                <a:spcPct val="0"/>
              </a:spcBef>
            </a:pPr>
            <a:r>
              <a:rPr lang="en-US" sz="1800">
                <a:solidFill>
                  <a:srgbClr val="000000"/>
                </a:solidFill>
                <a:latin typeface="TT Commons Pro"/>
                <a:ea typeface="TT Commons Pro"/>
                <a:cs typeface="TT Commons Pro"/>
                <a:sym typeface="TT Commons Pro"/>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566</Words>
  <Application>Microsoft Office PowerPoint</Application>
  <PresentationFormat>Custom</PresentationFormat>
  <Paragraphs>80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TT Commons Pro</vt:lpstr>
      <vt:lpstr>TT Commons Pro Bold</vt:lpstr>
      <vt:lpstr>Calibri</vt:lpstr>
      <vt:lpstr>Arial</vt:lpstr>
      <vt:lpstr>TAN Mon Cheri</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Keynote Presentation</dc:title>
  <cp:lastModifiedBy>bhavitha pofru</cp:lastModifiedBy>
  <cp:revision>1</cp:revision>
  <dcterms:created xsi:type="dcterms:W3CDTF">2006-08-16T00:00:00Z</dcterms:created>
  <dcterms:modified xsi:type="dcterms:W3CDTF">2026-01-05T01:29:52Z</dcterms:modified>
  <dc:identifier>DAG9gI0TiXQ</dc:identifier>
</cp:coreProperties>
</file>